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1" i="0" u="none" strike="noStrike">
                <a:solidFill>
                  <a:srgbClr val="1B3A5C"/>
                </a:solidFill>
                <a:latin typeface="Arial"/>
              </a:defRPr>
            </a:pPr>
            <a:r>
              <a:rPr sz="1100" b="1" i="0" u="none" strike="noStrike">
                <a:solidFill>
                  <a:srgbClr val="1B3A5C"/>
                </a:solidFill>
                <a:latin typeface="Arial"/>
              </a:rPr>
              <a:t>Monthly Booking Volume (All Years)</a:t>
            </a:r>
          </a:p>
        </c:rich>
      </c:tx>
      <c:layout/>
      <c:overlay val="0"/>
    </c:title>
    <c:autoTitleDeleted val="0"/>
    <c:plotArea>
      <c:layout/>
      <c:barChart>
        <c:barDir val="col"/>
        <c:grouping val="clustered"/>
        <c:varyColors val="0"/>
        <c:ser>
          <c:idx val="0"/>
          <c:order val="0"/>
          <c:tx>
            <c:strRef>
              <c:f>Sheet1!$B$1</c:f>
              <c:strCache>
                <c:ptCount val="1"/>
                <c:pt idx="0">
                  <c:v>Monthly Bookings</c:v>
                </c:pt>
              </c:strCache>
            </c:strRef>
          </c:tx>
          <c:spPr>
            <a:solidFill>
              <a:srgbClr val="4FB3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4FB3D9"/>
              </a:solidFill>
              <a:effectLst/>
            </c:spPr>
          </c:dPt>
          <c:dPt>
            <c:idx val="1"/>
            <c:invertIfNegative val="0"/>
            <c:bubble3D val="0"/>
            <c:spPr>
              <a:solidFill>
                <a:srgbClr val="4FB3D9"/>
              </a:solidFill>
              <a:effectLst/>
            </c:spPr>
          </c:dPt>
          <c:dPt>
            <c:idx val="2"/>
            <c:invertIfNegative val="0"/>
            <c:bubble3D val="0"/>
            <c:spPr>
              <a:solidFill>
                <a:srgbClr val="4FB3D9"/>
              </a:solidFill>
              <a:effectLst/>
            </c:spPr>
          </c:dPt>
          <c:dPt>
            <c:idx val="3"/>
            <c:invertIfNegative val="0"/>
            <c:bubble3D val="0"/>
            <c:spPr>
              <a:solidFill>
                <a:srgbClr val="2E86AB"/>
              </a:solidFill>
              <a:effectLst/>
            </c:spPr>
          </c:dPt>
          <c:dPt>
            <c:idx val="4"/>
            <c:invertIfNegative val="0"/>
            <c:bubble3D val="0"/>
            <c:spPr>
              <a:solidFill>
                <a:srgbClr val="2E86AB"/>
              </a:solidFill>
              <a:effectLst/>
            </c:spPr>
          </c:dPt>
          <c:dPt>
            <c:idx val="5"/>
            <c:invertIfNegative val="0"/>
            <c:bubble3D val="0"/>
            <c:spPr>
              <a:solidFill>
                <a:srgbClr val="2E86AB"/>
              </a:solidFill>
              <a:effectLst/>
            </c:spPr>
          </c:dPt>
          <c:dPt>
            <c:idx val="6"/>
            <c:invertIfNegative val="0"/>
            <c:bubble3D val="0"/>
            <c:spPr>
              <a:solidFill>
                <a:srgbClr val="E8A838"/>
              </a:solidFill>
              <a:effectLst/>
            </c:spPr>
          </c:dPt>
          <c:dPt>
            <c:idx val="7"/>
            <c:invertIfNegative val="0"/>
            <c:bubble3D val="0"/>
            <c:spPr>
              <a:solidFill>
                <a:srgbClr val="E8A838"/>
              </a:solidFill>
              <a:effectLst/>
            </c:spPr>
          </c:dPt>
          <c:dPt>
            <c:idx val="8"/>
            <c:invertIfNegative val="0"/>
            <c:bubble3D val="0"/>
            <c:spPr>
              <a:solidFill>
                <a:srgbClr val="2E86AB"/>
              </a:solidFill>
              <a:effectLst/>
            </c:spPr>
          </c:dPt>
          <c:dPt>
            <c:idx val="9"/>
            <c:invertIfNegative val="0"/>
            <c:bubble3D val="0"/>
            <c:spPr>
              <a:solidFill>
                <a:srgbClr val="4FB3D9"/>
              </a:solidFill>
              <a:effectLst/>
            </c:spPr>
          </c:dPt>
          <c:dPt>
            <c:idx val="10"/>
            <c:invertIfNegative val="0"/>
            <c:bubble3D val="0"/>
            <c:spPr>
              <a:solidFill>
                <a:srgbClr val="4FB3D9"/>
              </a:solidFill>
              <a:effectLst/>
            </c:spPr>
          </c:dPt>
          <c:dPt>
            <c:idx val="11"/>
            <c:invertIfNegative val="0"/>
            <c:bubble3D val="0"/>
            <c:spPr>
              <a:solidFill>
                <a:srgbClr val="4FB3D9"/>
              </a:solidFill>
              <a:effectLst/>
            </c:spPr>
          </c:dPt>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4664</c:v>
                </c:pt>
                <c:pt idx="1">
                  <c:v>6058</c:v>
                </c:pt>
                <c:pt idx="2">
                  <c:v>7470</c:v>
                </c:pt>
                <c:pt idx="3">
                  <c:v>7876</c:v>
                </c:pt>
                <c:pt idx="4">
                  <c:v>8328</c:v>
                </c:pt>
                <c:pt idx="5">
                  <c:v>7745</c:v>
                </c:pt>
                <c:pt idx="6">
                  <c:v>10008</c:v>
                </c:pt>
                <c:pt idx="7">
                  <c:v>11210</c:v>
                </c:pt>
                <c:pt idx="8">
                  <c:v>6662</c:v>
                </c:pt>
                <c:pt idx="9">
                  <c:v>6898</c:v>
                </c:pt>
                <c:pt idx="10">
                  <c:v>4965</c:v>
                </c:pt>
                <c:pt idx="11">
                  <c:v>5086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8FBFD"/>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1B3A5C"/>
                </a:solidFill>
                <a:latin typeface="Arial"/>
              </a:defRPr>
            </a:pPr>
            <a:r>
              <a:rPr sz="1100" b="1" i="0" u="none" strike="noStrike">
                <a:solidFill>
                  <a:srgbClr val="1B3A5C"/>
                </a:solidFill>
                <a:latin typeface="Arial"/>
              </a:rPr>
              <a:t>Monthly ADR (€) — All Years Combined</a:t>
            </a:r>
          </a:p>
        </c:rich>
      </c:tx>
      <c:layout/>
      <c:overlay val="0"/>
    </c:title>
    <c:autoTitleDeleted val="0"/>
    <c:plotArea>
      <c:layout/>
      <c:lineChart>
        <c:varyColors val="0"/>
        <c:ser>
          <c:idx val="0"/>
          <c:order val="0"/>
          <c:tx>
            <c:strRef>
              <c:f>Sheet1!$B$1</c:f>
              <c:strCache>
                <c:ptCount val="1"/>
                <c:pt idx="0">
                  <c:v>Avg Daily Rate (€)</c:v>
                </c:pt>
              </c:strCache>
            </c:strRef>
          </c:tx>
          <c:spPr>
            <a:solidFill>
              <a:srgbClr val="E8A838"/>
            </a:solidFill>
            <a:ln w="31750" cap="flat">
              <a:solidFill>
                <a:srgbClr val="E8A838"/>
              </a:solidFill>
              <a:prstDash val="solid"/>
              <a:round/>
            </a:ln>
            <a:effectLst/>
          </c:spPr>
          <c:invertIfNegative val="0"/>
          <c:dLbls>
            <c:numFmt formatCode="#,##0" sourceLinked="0"/>
            <c:txPr>
              <a:bodyPr/>
              <a:lstStyle/>
              <a:p>
                <a:pPr>
                  <a:defRPr b="0" i="0" strike="noStrike" sz="1200" u="none">
                    <a:solidFill>
                      <a:srgbClr val="E8A838"/>
                    </a:solidFill>
                    <a:latin typeface="Arial"/>
                  </a:defRPr>
                </a:pPr>
              </a:p>
            </c:txPr>
            <c:showLegendKey val="0"/>
            <c:showVal val="0"/>
            <c:showCatName val="0"/>
            <c:showSerName val="0"/>
            <c:showPercent val="0"/>
            <c:showBubbleSize val="0"/>
            <c:showLeaderLines val="0"/>
          </c:dLbls>
          <c:marker>
            <c:symbol val="circle"/>
            <c:size val="6"/>
            <c:spPr>
              <a:solidFill>
                <a:srgbClr val="E8A838"/>
              </a:solidFill>
              <a:ln w="9525" cap="flat">
                <a:solidFill>
                  <a:srgbClr val="E8A838"/>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70.26</c:v>
                </c:pt>
                <c:pt idx="1">
                  <c:v>74.92</c:v>
                </c:pt>
                <c:pt idx="2">
                  <c:v>81.88</c:v>
                </c:pt>
                <c:pt idx="3">
                  <c:v>103.76</c:v>
                </c:pt>
                <c:pt idx="4">
                  <c:v>111.29</c:v>
                </c:pt>
                <c:pt idx="5">
                  <c:v>119.89</c:v>
                </c:pt>
                <c:pt idx="6">
                  <c:v>135.89</c:v>
                </c:pt>
                <c:pt idx="7">
                  <c:v>151.25</c:v>
                </c:pt>
                <c:pt idx="8">
                  <c:v>112.33</c:v>
                </c:pt>
                <c:pt idx="9">
                  <c:v>90.4</c:v>
                </c:pt>
                <c:pt idx="10">
                  <c:v>72.98</c:v>
                </c:pt>
                <c:pt idx="11">
                  <c:v>81.78</c:v>
                </c:pt>
              </c:numCache>
            </c:numRef>
          </c:val>
          <c:smooth val="1"/>
        </c:ser>
        <c:dLbls>
          <c:numFmt formatCode="#,##0" sourceLinked="0"/>
          <c:txPr>
            <a:bodyPr/>
            <a:lstStyle/>
            <a:p>
              <a:pPr>
                <a:defRPr b="0" i="0" strike="noStrike" sz="1200" u="none">
                  <a:solidFill>
                    <a:srgbClr val="E8A838"/>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CF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1B3A5C"/>
                </a:solidFill>
                <a:latin typeface="Arial"/>
              </a:defRPr>
            </a:pPr>
            <a:r>
              <a:rPr sz="1100" b="1" i="0" u="none" strike="noStrike">
                <a:solidFill>
                  <a:srgbClr val="1B3A5C"/>
                </a:solidFill>
                <a:latin typeface="Arial"/>
              </a:rPr>
              <a:t>ADR Growth by Year</a:t>
            </a:r>
          </a:p>
        </c:rich>
      </c:tx>
      <c:layout/>
      <c:overlay val="0"/>
    </c:title>
    <c:autoTitleDeleted val="0"/>
    <c:plotArea>
      <c:layout/>
      <c:barChart>
        <c:barDir val="col"/>
        <c:grouping val="clustered"/>
        <c:varyColors val="0"/>
        <c:ser>
          <c:idx val="0"/>
          <c:order val="0"/>
          <c:tx>
            <c:strRef>
              <c:f>Sheet1!$B$1</c:f>
              <c:strCache>
                <c:ptCount val="1"/>
                <c:pt idx="0">
                  <c:v>ADR</c:v>
                </c:pt>
              </c:strCache>
            </c:strRef>
          </c:tx>
          <c:spPr>
            <a:solidFill>
              <a:srgbClr val="4FB3D9"/>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4FB3D9"/>
              </a:solidFill>
              <a:effectLst/>
            </c:spPr>
          </c:dPt>
          <c:dPt>
            <c:idx val="1"/>
            <c:invertIfNegative val="0"/>
            <c:bubble3D val="0"/>
            <c:spPr>
              <a:solidFill>
                <a:srgbClr val="2E86AB"/>
              </a:solidFill>
              <a:effectLst/>
            </c:spPr>
          </c:dPt>
          <c:dPt>
            <c:idx val="2"/>
            <c:invertIfNegative val="0"/>
            <c:bubble3D val="0"/>
            <c:spPr>
              <a:solidFill>
                <a:srgbClr val="1B3A5C"/>
              </a:solidFill>
              <a:effectLst/>
            </c:spPr>
          </c:dPt>
          <c:cat>
            <c:multiLvlStrRef>
              <c:f>Sheet1!$A$2:$A$4</c:f>
              <c:multiLvlStrCache>
                <c:ptCount val="3"/>
                <c:lvl>
                  <c:pt idx="0">
                    <c:v>2015</c:v>
                  </c:pt>
                  <c:pt idx="1">
                    <c:v>2016</c:v>
                  </c:pt>
                  <c:pt idx="2">
                    <c:v>2017</c:v>
                  </c:pt>
                </c:lvl>
              </c:multiLvlStrCache>
            </c:multiLvlStrRef>
          </c:cat>
          <c:val>
            <c:numRef>
              <c:f>Sheet1!$B$2:$B$4</c:f>
              <c:numCache>
                <c:formatCode>General</c:formatCode>
                <c:ptCount val="3"/>
                <c:pt idx="0">
                  <c:v>92.51</c:v>
                </c:pt>
                <c:pt idx="1">
                  <c:v>101.77</c:v>
                </c:pt>
                <c:pt idx="2">
                  <c:v>118.98</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CF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1B3A5C"/>
                </a:solidFill>
                <a:latin typeface="Arial"/>
              </a:defRPr>
            </a:pPr>
            <a:r>
              <a:rPr sz="1100" b="1" i="0" u="none" strike="noStrike">
                <a:solidFill>
                  <a:srgbClr val="1B3A5C"/>
                </a:solidFill>
                <a:latin typeface="Arial"/>
              </a:rPr>
              <a:t>Cancellation Rate by Booking Channel (%)</a:t>
            </a:r>
          </a:p>
        </c:rich>
      </c:tx>
      <c:layout/>
      <c:overlay val="0"/>
    </c:title>
    <c:autoTitleDeleted val="0"/>
    <c:plotArea>
      <c:layout/>
      <c:barChart>
        <c:barDir val="bar"/>
        <c:grouping val="clustered"/>
        <c:varyColors val="0"/>
        <c:ser>
          <c:idx val="0"/>
          <c:order val="0"/>
          <c:tx>
            <c:strRef>
              <c:f>Sheet1!$B$1</c:f>
              <c:strCache>
                <c:ptCount val="1"/>
                <c:pt idx="0">
                  <c:v>Cancel Rate (%)</c:v>
                </c:pt>
              </c:strCache>
            </c:strRef>
          </c:tx>
          <c:spPr>
            <a:solidFill>
              <a:srgbClr val="E05C5C"/>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E05C5C"/>
              </a:solidFill>
              <a:effectLst/>
            </c:spPr>
          </c:dPt>
          <c:dPt>
            <c:idx val="1"/>
            <c:invertIfNegative val="0"/>
            <c:bubble3D val="0"/>
            <c:spPr>
              <a:solidFill>
                <a:srgbClr val="E05C5CBB"/>
              </a:solidFill>
              <a:effectLst/>
            </c:spPr>
          </c:dPt>
          <c:dPt>
            <c:idx val="2"/>
            <c:invertIfNegative val="0"/>
            <c:bubble3D val="0"/>
            <c:spPr>
              <a:solidFill>
                <a:srgbClr val="E8A838"/>
              </a:solidFill>
              <a:effectLst/>
            </c:spPr>
          </c:dPt>
          <c:dPt>
            <c:idx val="3"/>
            <c:invertIfNegative val="0"/>
            <c:bubble3D val="0"/>
            <c:spPr>
              <a:solidFill>
                <a:srgbClr val="3BAB7ABB"/>
              </a:solidFill>
              <a:effectLst/>
            </c:spPr>
          </c:dPt>
          <c:dPt>
            <c:idx val="4"/>
            <c:invertIfNegative val="0"/>
            <c:bubble3D val="0"/>
            <c:spPr>
              <a:solidFill>
                <a:srgbClr val="3BAB7A"/>
              </a:solidFill>
              <a:effectLst/>
            </c:spPr>
          </c:dPt>
          <c:dPt>
            <c:idx val="5"/>
            <c:invertIfNegative val="0"/>
            <c:bubble3D val="0"/>
            <c:spPr>
              <a:solidFill>
                <a:srgbClr val="3BAB7A"/>
              </a:solidFill>
              <a:effectLst/>
            </c:spPr>
          </c:dPt>
          <c:cat>
            <c:multiLvlStrRef>
              <c:f>Sheet1!$A$2:$A$7</c:f>
              <c:multiLvlStrCache>
                <c:ptCount val="6"/>
                <c:lvl>
                  <c:pt idx="0">
                    <c:v>Online TA</c:v>
                  </c:pt>
                  <c:pt idx="1">
                    <c:v>Groups</c:v>
                  </c:pt>
                  <c:pt idx="2">
                    <c:v>Aviation</c:v>
                  </c:pt>
                  <c:pt idx="3">
                    <c:v>Offline TA/TO</c:v>
                  </c:pt>
                  <c:pt idx="4">
                    <c:v>Direct</c:v>
                  </c:pt>
                  <c:pt idx="5">
                    <c:v>Corporate</c:v>
                  </c:pt>
                </c:lvl>
              </c:multiLvlStrCache>
            </c:multiLvlStrRef>
          </c:cat>
          <c:val>
            <c:numRef>
              <c:f>Sheet1!$B$2:$B$7</c:f>
              <c:numCache>
                <c:formatCode>General</c:formatCode>
                <c:ptCount val="6"/>
                <c:pt idx="0">
                  <c:v>35.4</c:v>
                </c:pt>
                <c:pt idx="1">
                  <c:v>27.1</c:v>
                </c:pt>
                <c:pt idx="2">
                  <c:v>19.9</c:v>
                </c:pt>
                <c:pt idx="3">
                  <c:v>14.8</c:v>
                </c:pt>
                <c:pt idx="4">
                  <c:v>14.7</c:v>
                </c:pt>
                <c:pt idx="5">
                  <c:v>12.2</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EF9F9"/>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1B3A5C"/>
                </a:solidFill>
                <a:latin typeface="Arial"/>
              </a:defRPr>
            </a:pPr>
            <a:r>
              <a:rPr sz="1100" b="1" i="0" u="none" strike="noStrike">
                <a:solidFill>
                  <a:srgbClr val="1B3A5C"/>
                </a:solidFill>
                <a:latin typeface="Arial"/>
              </a:rPr>
              <a:t>Booking Channel Mix</a:t>
            </a:r>
          </a:p>
        </c:rich>
      </c:tx>
      <c:layout/>
      <c:overlay val="0"/>
    </c:title>
    <c:autoTitleDeleted val="0"/>
    <c:plotArea>
      <c:layout/>
      <c:pieChart>
        <c:varyColors val="1"/>
        <c:ser>
          <c:idx val="0"/>
          <c:order val="0"/>
          <c:tx>
            <c:strRef>
              <c:f>Sheet1!$B$1</c:f>
              <c:strCache>
                <c:ptCount val="1"/>
                <c:pt idx="0">
                  <c:v>Channel Share</c:v>
                </c:pt>
              </c:strCache>
            </c:strRef>
          </c:tx>
          <c:spPr>
            <a:solidFill>
              <a:schemeClr val="accent1"/>
            </a:solidFill>
            <a:ln w="9525" cap="flat">
              <a:solidFill>
                <a:srgbClr val="F9F9F9"/>
              </a:solidFill>
              <a:prstDash val="solid"/>
              <a:round/>
            </a:ln>
            <a:effectLst/>
          </c:spPr>
          <c:dPt>
            <c:idx val="0"/>
            <c:bubble3D val="0"/>
            <c:spPr>
              <a:solidFill>
                <a:srgbClr val="1B3A5C"/>
              </a:solidFill>
              <a:effectLst/>
            </c:spPr>
          </c:dPt>
          <c:dPt>
            <c:idx val="1"/>
            <c:bubble3D val="0"/>
            <c:spPr>
              <a:solidFill>
                <a:srgbClr val="2E86AB"/>
              </a:solidFill>
              <a:effectLst/>
            </c:spPr>
          </c:dPt>
          <c:dPt>
            <c:idx val="2"/>
            <c:bubble3D val="0"/>
            <c:spPr>
              <a:solidFill>
                <a:srgbClr val="4FB3D9"/>
              </a:solidFill>
              <a:effectLst/>
            </c:spPr>
          </c:dPt>
          <c:dPt>
            <c:idx val="3"/>
            <c:bubble3D val="0"/>
            <c:spPr>
              <a:solidFill>
                <a:srgbClr val="E8A838"/>
              </a:solidFill>
              <a:effectLst/>
            </c:spPr>
          </c:dPt>
          <c:dPt>
            <c:idx val="4"/>
            <c:bubble3D val="0"/>
            <c:spPr>
              <a:solidFill>
                <a:srgbClr val="3BAB7A"/>
              </a:solidFill>
              <a:effectLst/>
            </c:spPr>
          </c:dPt>
          <c:dPt>
            <c:idx val="5"/>
            <c:bubble3D val="0"/>
            <c:spPr>
              <a:solidFill>
                <a:srgbClr val="B0C4D8"/>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5"/>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Online TA</c:v>
                </c:pt>
                <c:pt idx="1">
                  <c:v>Offline TA/TO</c:v>
                </c:pt>
                <c:pt idx="2">
                  <c:v>Direct</c:v>
                </c:pt>
                <c:pt idx="3">
                  <c:v>Groups</c:v>
                </c:pt>
                <c:pt idx="4">
                  <c:v>Corporate</c:v>
                </c:pt>
                <c:pt idx="5">
                  <c:v>Other</c:v>
                </c:pt>
              </c:strCache>
            </c:strRef>
          </c:cat>
          <c:val>
            <c:numRef>
              <c:f>Sheet1!$B$2:$B$7</c:f>
              <c:numCache>
                <c:ptCount val="6"/>
                <c:pt idx="0">
                  <c:v>51364</c:v>
                </c:pt>
                <c:pt idx="1">
                  <c:v>13843</c:v>
                </c:pt>
                <c:pt idx="2">
                  <c:v>11738</c:v>
                </c:pt>
                <c:pt idx="3">
                  <c:v>4920</c:v>
                </c:pt>
                <c:pt idx="4">
                  <c:v>4189</c:v>
                </c:pt>
                <c:pt idx="5">
                  <c:v>916</c:v>
                </c:pt>
              </c:numCache>
            </c:numRef>
          </c:val>
        </c:ser>
        <c:firstSliceAng val="0"/>
      </c:pieChart>
      <c:spPr>
        <a:noFill/>
        <a:ln>
          <a:noFill/>
        </a:ln>
        <a:effectLst/>
      </c:spPr>
    </c:plotArea>
    <c:legend>
      <c:legendPos val="b"/>
      <c:overlay val="0"/>
      <c:txPr>
        <a:bodyPr/>
        <a:lstStyle/>
        <a:p>
          <a:pPr>
            <a:defRPr sz="900">
              <a:solidFill>
                <a:srgbClr val="6B7A8D"/>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1B3A5C"/>
                </a:solidFill>
                <a:latin typeface="Arial"/>
              </a:defRPr>
            </a:pPr>
            <a:r>
              <a:rPr sz="1100" b="1" i="0" u="none" strike="noStrike">
                <a:solidFill>
                  <a:srgbClr val="1B3A5C"/>
                </a:solidFill>
                <a:latin typeface="Arial"/>
              </a:rPr>
              <a:t>Top 8 Source Countries</a:t>
            </a:r>
          </a:p>
        </c:rich>
      </c:tx>
      <c:layout/>
      <c:overlay val="0"/>
    </c:title>
    <c:autoTitleDeleted val="0"/>
    <c:plotArea>
      <c:layout/>
      <c:barChart>
        <c:barDir val="bar"/>
        <c:grouping val="clustered"/>
        <c:varyColors val="0"/>
        <c:ser>
          <c:idx val="0"/>
          <c:order val="0"/>
          <c:tx>
            <c:strRef>
              <c:f>Sheet1!$B$1</c:f>
              <c:strCache>
                <c:ptCount val="1"/>
                <c:pt idx="0">
                  <c:v>Bookings</c:v>
                </c:pt>
              </c:strCache>
            </c:strRef>
          </c:tx>
          <c:spPr>
            <a:solidFill>
              <a:srgbClr val="1B3A5C"/>
            </a:solidFill>
            <a:effectLst/>
          </c:spPr>
          <c:invertIfNegative val="0"/>
          <c:dLbls>
            <c:numFmt formatCode="#,##0" sourceLinked="0"/>
            <c:txPr>
              <a:bodyPr/>
              <a:lstStyle/>
              <a:p>
                <a:pPr>
                  <a:defRPr b="0" i="0" strike="noStrike" sz="900" u="none">
                    <a:solidFill>
                      <a:srgbClr val="1B3A5C"/>
                    </a:solidFill>
                    <a:latin typeface="Arial"/>
                  </a:defRPr>
                </a:pPr>
              </a:p>
            </c:txPr>
            <c:showLegendKey val="0"/>
            <c:showVal val="1"/>
            <c:showCatName val="0"/>
            <c:showSerName val="0"/>
            <c:showPercent val="0"/>
            <c:showBubbleSize val="0"/>
            <c:showLeaderLines val="0"/>
          </c:dLbls>
          <c:dPt>
            <c:idx val="0"/>
            <c:invertIfNegative val="0"/>
            <c:bubble3D val="0"/>
            <c:spPr>
              <a:solidFill>
                <a:srgbClr val="1B3A5C"/>
              </a:solidFill>
              <a:effectLst/>
            </c:spPr>
          </c:dPt>
          <c:dPt>
            <c:idx val="1"/>
            <c:invertIfNegative val="0"/>
            <c:bubble3D val="0"/>
            <c:spPr>
              <a:solidFill>
                <a:srgbClr val="2E86AB"/>
              </a:solidFill>
              <a:effectLst/>
            </c:spPr>
          </c:dPt>
          <c:dPt>
            <c:idx val="2"/>
            <c:invertIfNegative val="0"/>
            <c:bubble3D val="0"/>
            <c:spPr>
              <a:solidFill>
                <a:srgbClr val="2E86AB"/>
              </a:solidFill>
              <a:effectLst/>
            </c:spPr>
          </c:dPt>
          <c:dPt>
            <c:idx val="3"/>
            <c:invertIfNegative val="0"/>
            <c:bubble3D val="0"/>
            <c:spPr>
              <a:solidFill>
                <a:srgbClr val="4FB3D9"/>
              </a:solidFill>
              <a:effectLst/>
            </c:spPr>
          </c:dPt>
          <c:dPt>
            <c:idx val="4"/>
            <c:invertIfNegative val="0"/>
            <c:bubble3D val="0"/>
            <c:spPr>
              <a:solidFill>
                <a:srgbClr val="4FB3D9"/>
              </a:solidFill>
              <a:effectLst/>
            </c:spPr>
          </c:dPt>
          <c:dPt>
            <c:idx val="5"/>
            <c:invertIfNegative val="0"/>
            <c:bubble3D val="0"/>
            <c:spPr>
              <a:solidFill>
                <a:srgbClr val="E8A838"/>
              </a:solidFill>
              <a:effectLst/>
            </c:spPr>
          </c:dPt>
          <c:dPt>
            <c:idx val="6"/>
            <c:invertIfNegative val="0"/>
            <c:bubble3D val="0"/>
            <c:spPr>
              <a:solidFill>
                <a:srgbClr val="E8A838"/>
              </a:solidFill>
              <a:effectLst/>
            </c:spPr>
          </c:dPt>
          <c:dPt>
            <c:idx val="7"/>
            <c:invertIfNegative val="0"/>
            <c:bubble3D val="0"/>
            <c:spPr>
              <a:solidFill>
                <a:srgbClr val="E8A838AA"/>
              </a:solidFill>
              <a:effectLst/>
            </c:spPr>
          </c:dPt>
          <c:cat>
            <c:multiLvlStrRef>
              <c:f>Sheet1!$A$2:$A$9</c:f>
              <c:multiLvlStrCache>
                <c:ptCount val="8"/>
                <c:lvl>
                  <c:pt idx="0">
                    <c:v>🇵🇹 PRT</c:v>
                  </c:pt>
                  <c:pt idx="1">
                    <c:v>🇬🇧 GBR</c:v>
                  </c:pt>
                  <c:pt idx="2">
                    <c:v>🇫🇷 FRA</c:v>
                  </c:pt>
                  <c:pt idx="3">
                    <c:v>🇪🇸 ESP</c:v>
                  </c:pt>
                  <c:pt idx="4">
                    <c:v>🇩🇪 DEU</c:v>
                  </c:pt>
                  <c:pt idx="5">
                    <c:v>🇮🇹 ITA</c:v>
                  </c:pt>
                  <c:pt idx="6">
                    <c:v>🇮🇪 IRL</c:v>
                  </c:pt>
                  <c:pt idx="7">
                    <c:v>🇧🇪 BEL</c:v>
                  </c:pt>
                </c:lvl>
              </c:multiLvlStrCache>
            </c:multiLvlStrRef>
          </c:cat>
          <c:val>
            <c:numRef>
              <c:f>Sheet1!$B$2:$B$9</c:f>
              <c:numCache>
                <c:formatCode>General</c:formatCode>
                <c:ptCount val="8"/>
                <c:pt idx="0">
                  <c:v>27722</c:v>
                </c:pt>
                <c:pt idx="1">
                  <c:v>10407</c:v>
                </c:pt>
                <c:pt idx="2">
                  <c:v>8798</c:v>
                </c:pt>
                <c:pt idx="3">
                  <c:v>7230</c:v>
                </c:pt>
                <c:pt idx="4">
                  <c:v>5372</c:v>
                </c:pt>
                <c:pt idx="5">
                  <c:v>3052</c:v>
                </c:pt>
                <c:pt idx="6">
                  <c:v>3011</c:v>
                </c:pt>
                <c:pt idx="7">
                  <c:v>2065</c:v>
                </c:pt>
              </c:numCache>
            </c:numRef>
          </c:val>
        </c:ser>
        <c:dLbls>
          <c:numFmt formatCode="#,##0" sourceLinked="0"/>
          <c:txPr>
            <a:bodyPr/>
            <a:lstStyle/>
            <a:p>
              <a:pPr>
                <a:defRPr b="0" i="0" strike="noStrike" sz="900" u="none">
                  <a:solidFill>
                    <a:srgbClr val="1B3A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A8D"/>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This is the capstone presentation for Task 4. Briefly outline the three-part story: booking trends, revenue dynamics, and cancellation risk. Mention the dataset spans 86,970 hotel bookings across 2015–2017.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'Four findings, one story.' Emphasise the 28.6% ADR growth as the business success. Then pivot to the cancellation problem as the key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clear summer peak. Mention that July + August together account for ~24% of annual volume but generate disproportionate revenue. Resort Hotel guests stay 40% longer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narrative: Pricing power is strong and growing. The summer window (Jul-Aug) should be the focus of premium pricing strategy. City hotel commands a higher ADR but has a worse cancellation rate, which erodes net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action slide. Online TA is the dominant channel but the riskiest. The deposit policy gap is the biggest lever available. Tie this into the hypothesis testing slide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hypothesis test step by step. With p &lt; 0.0001, we have overwhelming evidence. The 95% confidence interval [5.9%, 7.3%] means the true difference is not zero. This justifies different cancellation management strategies for each hotel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channel mix reveals the structural risk. Online TA dominates volume but carries the highest cancellation burden. Geographic concentration in Portugal is also a risk — any economic shock to the domestic market directly impacts occupancy.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Prioritise recommendations 01 and 02 for immediate implementation. Dynamic pricing is the fastest revenue lever. The deposit policy change for OTAs requires coordination with channel partners but has the highest cancellation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Three clear actions, all data-backed. Emphasise that these are not opinions — they follow from the statistical analysis. The p &lt; 0.0001 result means we are 99.99% confident that City Hotel's higher cancel rate is real and actionable.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6858000" y="-1097280"/>
            <a:ext cx="4114800" cy="4114800"/>
          </a:xfrm>
          <a:prstGeom prst="ellipse">
            <a:avLst/>
          </a:prstGeom>
          <a:solidFill>
            <a:srgbClr val="2E86AB">
              <a:alpha val="20000"/>
            </a:srgbClr>
          </a:solidFill>
          <a:ln w="12700">
            <a:solidFill>
              <a:srgbClr val="2E86AB">
                <a:alpha val="20000"/>
              </a:srgbClr>
            </a:solidFill>
            <a:prstDash val="solid"/>
          </a:ln>
        </p:spPr>
      </p:sp>
      <p:sp>
        <p:nvSpPr>
          <p:cNvPr id="3" name="Shape 1"/>
          <p:cNvSpPr/>
          <p:nvPr/>
        </p:nvSpPr>
        <p:spPr>
          <a:xfrm>
            <a:off x="7772400" y="-457200"/>
            <a:ext cx="2560320" cy="2560320"/>
          </a:xfrm>
          <a:prstGeom prst="ellipse">
            <a:avLst/>
          </a:prstGeom>
          <a:solidFill>
            <a:srgbClr val="4FB3D9">
              <a:alpha val="30000"/>
            </a:srgbClr>
          </a:solidFill>
          <a:ln w="12700">
            <a:solidFill>
              <a:srgbClr val="4FB3D9">
                <a:alpha val="30000"/>
              </a:srgbClr>
            </a:solidFill>
            <a:prstDash val="solid"/>
          </a:ln>
        </p:spPr>
      </p:sp>
      <p:sp>
        <p:nvSpPr>
          <p:cNvPr id="4" name="Shape 2"/>
          <p:cNvSpPr/>
          <p:nvPr/>
        </p:nvSpPr>
        <p:spPr>
          <a:xfrm>
            <a:off x="457200" y="502920"/>
            <a:ext cx="685800" cy="685800"/>
          </a:xfrm>
          <a:prstGeom prst="ellipse">
            <a:avLst/>
          </a:prstGeom>
          <a:solidFill>
            <a:srgbClr val="E8A838"/>
          </a:solidFill>
          <a:ln w="12700">
            <a:solidFill>
              <a:srgbClr val="E8A838"/>
            </a:solidFill>
            <a:prstDash val="solid"/>
          </a:ln>
        </p:spPr>
      </p:sp>
      <p:sp>
        <p:nvSpPr>
          <p:cNvPr id="5" name="Text 3"/>
          <p:cNvSpPr/>
          <p:nvPr/>
        </p:nvSpPr>
        <p:spPr>
          <a:xfrm>
            <a:off x="457200" y="502920"/>
            <a:ext cx="685800" cy="6858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1280160" y="548640"/>
            <a:ext cx="7315200" cy="365760"/>
          </a:xfrm>
          <a:prstGeom prst="rect">
            <a:avLst/>
          </a:prstGeom>
          <a:noFill/>
          <a:ln/>
        </p:spPr>
        <p:txBody>
          <a:bodyPr wrap="square" rtlCol="0" anchor="ctr"/>
          <a:lstStyle/>
          <a:p>
            <a:pPr indent="0" marL="0">
              <a:buNone/>
            </a:pPr>
            <a:r>
              <a:rPr lang="en-US" sz="900" b="1" spc="200" kern="0" dirty="0">
                <a:solidFill>
                  <a:srgbClr val="E8A838"/>
                </a:solidFill>
                <a:latin typeface="Calibri" pitchFamily="34" charset="0"/>
                <a:ea typeface="Calibri" pitchFamily="34" charset="-122"/>
                <a:cs typeface="Calibri" pitchFamily="34" charset="-120"/>
              </a:rPr>
              <a:t>TASK 4 · DATA STORYTELLING &amp; STATISTICAL VALIDATION</a:t>
            </a:r>
            <a:endParaRPr lang="en-US" sz="900" dirty="0"/>
          </a:p>
        </p:txBody>
      </p:sp>
      <p:sp>
        <p:nvSpPr>
          <p:cNvPr id="7" name="Text 5"/>
          <p:cNvSpPr/>
          <p:nvPr/>
        </p:nvSpPr>
        <p:spPr>
          <a:xfrm>
            <a:off x="457200" y="1051560"/>
            <a:ext cx="8229600" cy="1645920"/>
          </a:xfrm>
          <a:prstGeom prst="rect">
            <a:avLst/>
          </a:prstGeom>
          <a:noFill/>
          <a:ln/>
        </p:spPr>
        <p:txBody>
          <a:bodyPr wrap="square" rtlCol="0" anchor="t"/>
          <a:lstStyle/>
          <a:p>
            <a:pPr algn="l" indent="0" marL="0">
              <a:buNone/>
            </a:pPr>
            <a:r>
              <a:rPr lang="en-US" sz="4800" b="1" dirty="0">
                <a:solidFill>
                  <a:srgbClr val="FFFFFF"/>
                </a:solidFill>
                <a:latin typeface="Cambria" pitchFamily="34" charset="0"/>
                <a:ea typeface="Cambria" pitchFamily="34" charset="-122"/>
                <a:cs typeface="Cambria" pitchFamily="34" charset="-120"/>
              </a:rPr>
              <a:t>Hotel Booking</a:t>
            </a:r>
            <a:endParaRPr lang="en-US" sz="4800" dirty="0"/>
          </a:p>
          <a:p>
            <a:pPr algn="l" indent="0" marL="0">
              <a:buNone/>
            </a:pPr>
            <a:r>
              <a:rPr lang="en-US" sz="4800" b="1" dirty="0">
                <a:solidFill>
                  <a:srgbClr val="FFFFFF"/>
                </a:solidFill>
                <a:latin typeface="Cambria" pitchFamily="34" charset="0"/>
                <a:ea typeface="Cambria" pitchFamily="34" charset="-122"/>
                <a:cs typeface="Cambria" pitchFamily="34" charset="-120"/>
              </a:rPr>
              <a:t>Performance Report</a:t>
            </a:r>
            <a:endParaRPr lang="en-US" sz="4800" dirty="0"/>
          </a:p>
        </p:txBody>
      </p:sp>
      <p:sp>
        <p:nvSpPr>
          <p:cNvPr id="8" name="Text 6"/>
          <p:cNvSpPr/>
          <p:nvPr/>
        </p:nvSpPr>
        <p:spPr>
          <a:xfrm>
            <a:off x="457200" y="2743200"/>
            <a:ext cx="8229600" cy="457200"/>
          </a:xfrm>
          <a:prstGeom prst="rect">
            <a:avLst/>
          </a:prstGeom>
          <a:noFill/>
          <a:ln/>
        </p:spPr>
        <p:txBody>
          <a:bodyPr wrap="square" rtlCol="0" anchor="ctr"/>
          <a:lstStyle/>
          <a:p>
            <a:pPr algn="l" indent="0" marL="0">
              <a:buNone/>
            </a:pPr>
            <a:r>
              <a:rPr lang="en-US" sz="1500" dirty="0">
                <a:solidFill>
                  <a:srgbClr val="A8C4D8"/>
                </a:solidFill>
                <a:latin typeface="Calibri" pitchFamily="34" charset="0"/>
                <a:ea typeface="Calibri" pitchFamily="34" charset="-122"/>
                <a:cs typeface="Calibri" pitchFamily="34" charset="-120"/>
              </a:rPr>
              <a:t>86,970 Bookings · 2015–2017 · Business Intelligence Findings</a:t>
            </a:r>
            <a:endParaRPr lang="en-US" sz="1500" dirty="0"/>
          </a:p>
        </p:txBody>
      </p:sp>
      <p:sp>
        <p:nvSpPr>
          <p:cNvPr id="9" name="Shape 7"/>
          <p:cNvSpPr/>
          <p:nvPr/>
        </p:nvSpPr>
        <p:spPr>
          <a:xfrm>
            <a:off x="457200" y="3429000"/>
            <a:ext cx="2011680" cy="1188720"/>
          </a:xfrm>
          <a:prstGeom prst="roundRect">
            <a:avLst>
              <a:gd name="adj" fmla="val 7692"/>
            </a:avLst>
          </a:prstGeom>
          <a:solidFill>
            <a:srgbClr val="FFFFFF">
              <a:alpha val="10000"/>
            </a:srgbClr>
          </a:solidFill>
          <a:ln w="12700">
            <a:solidFill>
              <a:srgbClr val="FFFFFF">
                <a:alpha val="25000"/>
              </a:srgbClr>
            </a:solidFill>
            <a:prstDash val="solid"/>
          </a:ln>
        </p:spPr>
      </p:sp>
      <p:sp>
        <p:nvSpPr>
          <p:cNvPr id="10" name="Text 8"/>
          <p:cNvSpPr/>
          <p:nvPr/>
        </p:nvSpPr>
        <p:spPr>
          <a:xfrm>
            <a:off x="457200" y="3493008"/>
            <a:ext cx="2011680"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86,970</a:t>
            </a:r>
            <a:endParaRPr lang="en-US" sz="2600" dirty="0"/>
          </a:p>
        </p:txBody>
      </p:sp>
      <p:sp>
        <p:nvSpPr>
          <p:cNvPr id="11" name="Text 9"/>
          <p:cNvSpPr/>
          <p:nvPr/>
        </p:nvSpPr>
        <p:spPr>
          <a:xfrm>
            <a:off x="457200" y="4069080"/>
            <a:ext cx="2011680" cy="320040"/>
          </a:xfrm>
          <a:prstGeom prst="rect">
            <a:avLst/>
          </a:prstGeom>
          <a:noFill/>
          <a:ln/>
        </p:spPr>
        <p:txBody>
          <a:bodyPr wrap="square" rtlCol="0" anchor="ctr"/>
          <a:lstStyle/>
          <a:p>
            <a:pPr algn="ctr" indent="0" marL="0">
              <a:buNone/>
            </a:pPr>
            <a:r>
              <a:rPr lang="en-US" sz="1000" dirty="0">
                <a:solidFill>
                  <a:srgbClr val="A8C4D8"/>
                </a:solidFill>
                <a:latin typeface="Calibri" pitchFamily="34" charset="0"/>
                <a:ea typeface="Calibri" pitchFamily="34" charset="-122"/>
                <a:cs typeface="Calibri" pitchFamily="34" charset="-120"/>
              </a:rPr>
              <a:t>Total Bookings</a:t>
            </a:r>
            <a:endParaRPr lang="en-US" sz="1000" dirty="0"/>
          </a:p>
        </p:txBody>
      </p:sp>
      <p:sp>
        <p:nvSpPr>
          <p:cNvPr id="12" name="Shape 10"/>
          <p:cNvSpPr/>
          <p:nvPr/>
        </p:nvSpPr>
        <p:spPr>
          <a:xfrm>
            <a:off x="2651760" y="3429000"/>
            <a:ext cx="2011680" cy="1188720"/>
          </a:xfrm>
          <a:prstGeom prst="roundRect">
            <a:avLst>
              <a:gd name="adj" fmla="val 7692"/>
            </a:avLst>
          </a:prstGeom>
          <a:solidFill>
            <a:srgbClr val="FFFFFF">
              <a:alpha val="10000"/>
            </a:srgbClr>
          </a:solidFill>
          <a:ln w="12700">
            <a:solidFill>
              <a:srgbClr val="FFFFFF">
                <a:alpha val="25000"/>
              </a:srgbClr>
            </a:solidFill>
            <a:prstDash val="solid"/>
          </a:ln>
        </p:spPr>
      </p:sp>
      <p:sp>
        <p:nvSpPr>
          <p:cNvPr id="13" name="Text 11"/>
          <p:cNvSpPr/>
          <p:nvPr/>
        </p:nvSpPr>
        <p:spPr>
          <a:xfrm>
            <a:off x="2651760" y="3493008"/>
            <a:ext cx="2011680"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€106.61</a:t>
            </a:r>
            <a:endParaRPr lang="en-US" sz="2600" dirty="0"/>
          </a:p>
        </p:txBody>
      </p:sp>
      <p:sp>
        <p:nvSpPr>
          <p:cNvPr id="14" name="Text 12"/>
          <p:cNvSpPr/>
          <p:nvPr/>
        </p:nvSpPr>
        <p:spPr>
          <a:xfrm>
            <a:off x="2651760" y="4069080"/>
            <a:ext cx="2011680" cy="320040"/>
          </a:xfrm>
          <a:prstGeom prst="rect">
            <a:avLst/>
          </a:prstGeom>
          <a:noFill/>
          <a:ln/>
        </p:spPr>
        <p:txBody>
          <a:bodyPr wrap="square" rtlCol="0" anchor="ctr"/>
          <a:lstStyle/>
          <a:p>
            <a:pPr algn="ctr" indent="0" marL="0">
              <a:buNone/>
            </a:pPr>
            <a:r>
              <a:rPr lang="en-US" sz="1000" dirty="0">
                <a:solidFill>
                  <a:srgbClr val="A8C4D8"/>
                </a:solidFill>
                <a:latin typeface="Calibri" pitchFamily="34" charset="0"/>
                <a:ea typeface="Calibri" pitchFamily="34" charset="-122"/>
                <a:cs typeface="Calibri" pitchFamily="34" charset="-120"/>
              </a:rPr>
              <a:t>Avg Daily Rate</a:t>
            </a:r>
            <a:endParaRPr lang="en-US" sz="1000" dirty="0"/>
          </a:p>
        </p:txBody>
      </p:sp>
      <p:sp>
        <p:nvSpPr>
          <p:cNvPr id="15" name="Shape 13"/>
          <p:cNvSpPr/>
          <p:nvPr/>
        </p:nvSpPr>
        <p:spPr>
          <a:xfrm>
            <a:off x="4846320" y="3429000"/>
            <a:ext cx="2011680" cy="1188720"/>
          </a:xfrm>
          <a:prstGeom prst="roundRect">
            <a:avLst>
              <a:gd name="adj" fmla="val 7692"/>
            </a:avLst>
          </a:prstGeom>
          <a:solidFill>
            <a:srgbClr val="FFFFFF">
              <a:alpha val="10000"/>
            </a:srgbClr>
          </a:solidFill>
          <a:ln w="12700">
            <a:solidFill>
              <a:srgbClr val="FFFFFF">
                <a:alpha val="25000"/>
              </a:srgbClr>
            </a:solidFill>
            <a:prstDash val="solid"/>
          </a:ln>
        </p:spPr>
      </p:sp>
      <p:sp>
        <p:nvSpPr>
          <p:cNvPr id="16" name="Text 14"/>
          <p:cNvSpPr/>
          <p:nvPr/>
        </p:nvSpPr>
        <p:spPr>
          <a:xfrm>
            <a:off x="4846320" y="3493008"/>
            <a:ext cx="2011680"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27.5%</a:t>
            </a:r>
            <a:endParaRPr lang="en-US" sz="2600" dirty="0"/>
          </a:p>
        </p:txBody>
      </p:sp>
      <p:sp>
        <p:nvSpPr>
          <p:cNvPr id="17" name="Text 15"/>
          <p:cNvSpPr/>
          <p:nvPr/>
        </p:nvSpPr>
        <p:spPr>
          <a:xfrm>
            <a:off x="4846320" y="4069080"/>
            <a:ext cx="2011680" cy="320040"/>
          </a:xfrm>
          <a:prstGeom prst="rect">
            <a:avLst/>
          </a:prstGeom>
          <a:noFill/>
          <a:ln/>
        </p:spPr>
        <p:txBody>
          <a:bodyPr wrap="square" rtlCol="0" anchor="ctr"/>
          <a:lstStyle/>
          <a:p>
            <a:pPr algn="ctr" indent="0" marL="0">
              <a:buNone/>
            </a:pPr>
            <a:r>
              <a:rPr lang="en-US" sz="1000" dirty="0">
                <a:solidFill>
                  <a:srgbClr val="A8C4D8"/>
                </a:solidFill>
                <a:latin typeface="Calibri" pitchFamily="34" charset="0"/>
                <a:ea typeface="Calibri" pitchFamily="34" charset="-122"/>
                <a:cs typeface="Calibri" pitchFamily="34" charset="-120"/>
              </a:rPr>
              <a:t>Cancellation Rate</a:t>
            </a:r>
            <a:endParaRPr lang="en-US" sz="1000" dirty="0"/>
          </a:p>
        </p:txBody>
      </p:sp>
      <p:sp>
        <p:nvSpPr>
          <p:cNvPr id="18" name="Shape 16"/>
          <p:cNvSpPr/>
          <p:nvPr/>
        </p:nvSpPr>
        <p:spPr>
          <a:xfrm>
            <a:off x="7040880" y="3429000"/>
            <a:ext cx="2011680" cy="1188720"/>
          </a:xfrm>
          <a:prstGeom prst="roundRect">
            <a:avLst>
              <a:gd name="adj" fmla="val 7692"/>
            </a:avLst>
          </a:prstGeom>
          <a:solidFill>
            <a:srgbClr val="FFFFFF">
              <a:alpha val="10000"/>
            </a:srgbClr>
          </a:solidFill>
          <a:ln w="12700">
            <a:solidFill>
              <a:srgbClr val="FFFFFF">
                <a:alpha val="25000"/>
              </a:srgbClr>
            </a:solidFill>
            <a:prstDash val="solid"/>
          </a:ln>
        </p:spPr>
      </p:sp>
      <p:sp>
        <p:nvSpPr>
          <p:cNvPr id="19" name="Text 17"/>
          <p:cNvSpPr/>
          <p:nvPr/>
        </p:nvSpPr>
        <p:spPr>
          <a:xfrm>
            <a:off x="7040880" y="3493008"/>
            <a:ext cx="2011680"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3.63</a:t>
            </a:r>
            <a:endParaRPr lang="en-US" sz="2600" dirty="0"/>
          </a:p>
        </p:txBody>
      </p:sp>
      <p:sp>
        <p:nvSpPr>
          <p:cNvPr id="20" name="Text 18"/>
          <p:cNvSpPr/>
          <p:nvPr/>
        </p:nvSpPr>
        <p:spPr>
          <a:xfrm>
            <a:off x="7040880" y="4069080"/>
            <a:ext cx="2011680" cy="320040"/>
          </a:xfrm>
          <a:prstGeom prst="rect">
            <a:avLst/>
          </a:prstGeom>
          <a:noFill/>
          <a:ln/>
        </p:spPr>
        <p:txBody>
          <a:bodyPr wrap="square" rtlCol="0" anchor="ctr"/>
          <a:lstStyle/>
          <a:p>
            <a:pPr algn="ctr" indent="0" marL="0">
              <a:buNone/>
            </a:pPr>
            <a:r>
              <a:rPr lang="en-US" sz="1000" dirty="0">
                <a:solidFill>
                  <a:srgbClr val="A8C4D8"/>
                </a:solidFill>
                <a:latin typeface="Calibri" pitchFamily="34" charset="0"/>
                <a:ea typeface="Calibri" pitchFamily="34" charset="-122"/>
                <a:cs typeface="Calibri" pitchFamily="34" charset="-120"/>
              </a:rPr>
              <a:t>Avg Nights/Stay</a:t>
            </a:r>
            <a:endParaRPr lang="en-US" sz="1000" dirty="0"/>
          </a:p>
        </p:txBody>
      </p:sp>
      <p:sp>
        <p:nvSpPr>
          <p:cNvPr id="21" name="Text 19"/>
          <p:cNvSpPr/>
          <p:nvPr/>
        </p:nvSpPr>
        <p:spPr>
          <a:xfrm>
            <a:off x="457200" y="4800600"/>
            <a:ext cx="8229600" cy="228600"/>
          </a:xfrm>
          <a:prstGeom prst="rect">
            <a:avLst/>
          </a:prstGeom>
          <a:noFill/>
          <a:ln/>
        </p:spPr>
        <p:txBody>
          <a:bodyPr wrap="square" rtlCol="0" anchor="ctr"/>
          <a:lstStyle/>
          <a:p>
            <a:pPr algn="ctr" indent="0" marL="0">
              <a:buNone/>
            </a:pPr>
            <a:r>
              <a:rPr lang="en-US" sz="900" dirty="0">
                <a:solidFill>
                  <a:srgbClr val="5A7A9C"/>
                </a:solidFill>
                <a:latin typeface="Calibri" pitchFamily="34" charset="0"/>
                <a:ea typeface="Calibri" pitchFamily="34" charset="-122"/>
                <a:cs typeface="Calibri" pitchFamily="34" charset="-120"/>
              </a:rPr>
              <a:t>Prepared by ApexPlanet Software Pvt. Ltd. · 60-Day Data Analytics Program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Executive Summary</a:t>
            </a:r>
            <a:endParaRPr lang="en-US" sz="3000" dirty="0"/>
          </a:p>
        </p:txBody>
      </p:sp>
      <p:sp>
        <p:nvSpPr>
          <p:cNvPr id="3" name="Text 1"/>
          <p:cNvSpPr/>
          <p:nvPr/>
        </p:nvSpPr>
        <p:spPr>
          <a:xfrm>
            <a:off x="457200" y="804672"/>
            <a:ext cx="8229600" cy="320040"/>
          </a:xfrm>
          <a:prstGeom prst="rect">
            <a:avLst/>
          </a:prstGeom>
          <a:noFill/>
          <a:ln/>
        </p:spPr>
        <p:txBody>
          <a:bodyPr wrap="square" rtlCol="0" anchor="ctr"/>
          <a:lstStyle/>
          <a:p>
            <a:pPr indent="0" marL="0">
              <a:buNone/>
            </a:pPr>
            <a:r>
              <a:rPr lang="en-US" sz="1300" dirty="0">
                <a:solidFill>
                  <a:srgbClr val="6B7A8D"/>
                </a:solidFill>
                <a:latin typeface="Calibri" pitchFamily="34" charset="0"/>
                <a:ea typeface="Calibri" pitchFamily="34" charset="-122"/>
                <a:cs typeface="Calibri" pitchFamily="34" charset="-120"/>
              </a:rPr>
              <a:t>Four headline findings from 86,970 hotel booking records (2015–2017)</a:t>
            </a:r>
            <a:endParaRPr lang="en-US" sz="1300" dirty="0"/>
          </a:p>
        </p:txBody>
      </p:sp>
      <p:sp>
        <p:nvSpPr>
          <p:cNvPr id="4" name="Shape 2"/>
          <p:cNvSpPr/>
          <p:nvPr/>
        </p:nvSpPr>
        <p:spPr>
          <a:xfrm>
            <a:off x="365760" y="1325880"/>
            <a:ext cx="4023360" cy="1508760"/>
          </a:xfrm>
          <a:prstGeom prst="roundRect">
            <a:avLst>
              <a:gd name="adj" fmla="val 7273"/>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5" name="Shape 3"/>
          <p:cNvSpPr/>
          <p:nvPr/>
        </p:nvSpPr>
        <p:spPr>
          <a:xfrm>
            <a:off x="502920" y="1490472"/>
            <a:ext cx="502920" cy="502920"/>
          </a:xfrm>
          <a:prstGeom prst="ellipse">
            <a:avLst/>
          </a:prstGeom>
          <a:solidFill>
            <a:srgbClr val="2E86AB"/>
          </a:solidFill>
          <a:ln w="12700">
            <a:solidFill>
              <a:srgbClr val="2E86AB"/>
            </a:solidFill>
            <a:prstDash val="solid"/>
          </a:ln>
        </p:spPr>
      </p:sp>
      <p:sp>
        <p:nvSpPr>
          <p:cNvPr id="6" name="Text 4"/>
          <p:cNvSpPr/>
          <p:nvPr/>
        </p:nvSpPr>
        <p:spPr>
          <a:xfrm>
            <a:off x="502920" y="1490472"/>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7" name="Text 5"/>
          <p:cNvSpPr/>
          <p:nvPr/>
        </p:nvSpPr>
        <p:spPr>
          <a:xfrm>
            <a:off x="1115568" y="1490472"/>
            <a:ext cx="3108960" cy="320040"/>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Revenue Growth</a:t>
            </a:r>
            <a:endParaRPr lang="en-US" sz="1300" dirty="0"/>
          </a:p>
        </p:txBody>
      </p:sp>
      <p:sp>
        <p:nvSpPr>
          <p:cNvPr id="8" name="Text 6"/>
          <p:cNvSpPr/>
          <p:nvPr/>
        </p:nvSpPr>
        <p:spPr>
          <a:xfrm>
            <a:off x="1115568" y="1828800"/>
            <a:ext cx="3108960" cy="868680"/>
          </a:xfrm>
          <a:prstGeom prst="rect">
            <a:avLst/>
          </a:prstGeom>
          <a:noFill/>
          <a:ln/>
        </p:spPr>
        <p:txBody>
          <a:bodyPr wrap="square" rtlCol="0" anchor="t"/>
          <a:lstStyle/>
          <a:p>
            <a:pPr indent="0" marL="0">
              <a:buNone/>
            </a:pPr>
            <a:r>
              <a:rPr lang="en-US" sz="1050" dirty="0">
                <a:solidFill>
                  <a:srgbClr val="6B7A8D"/>
                </a:solidFill>
                <a:latin typeface="Calibri" pitchFamily="34" charset="0"/>
                <a:ea typeface="Calibri" pitchFamily="34" charset="-122"/>
                <a:cs typeface="Calibri" pitchFamily="34" charset="-120"/>
              </a:rPr>
              <a:t>ADR surged 28.6% — from €92.51 in 2015 to €118.98 in 2017 — driven by peak-season pricing power in summer months.</a:t>
            </a:r>
            <a:endParaRPr lang="en-US" sz="1050" dirty="0"/>
          </a:p>
        </p:txBody>
      </p:sp>
      <p:sp>
        <p:nvSpPr>
          <p:cNvPr id="9" name="Shape 7"/>
          <p:cNvSpPr/>
          <p:nvPr/>
        </p:nvSpPr>
        <p:spPr>
          <a:xfrm>
            <a:off x="4754880" y="1325880"/>
            <a:ext cx="4023360" cy="1508760"/>
          </a:xfrm>
          <a:prstGeom prst="roundRect">
            <a:avLst>
              <a:gd name="adj" fmla="val 7273"/>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0" name="Shape 8"/>
          <p:cNvSpPr/>
          <p:nvPr/>
        </p:nvSpPr>
        <p:spPr>
          <a:xfrm>
            <a:off x="4892040" y="1490472"/>
            <a:ext cx="502920" cy="502920"/>
          </a:xfrm>
          <a:prstGeom prst="ellipse">
            <a:avLst/>
          </a:prstGeom>
          <a:solidFill>
            <a:srgbClr val="E05C5C"/>
          </a:solidFill>
          <a:ln w="12700">
            <a:solidFill>
              <a:srgbClr val="E05C5C"/>
            </a:solidFill>
            <a:prstDash val="solid"/>
          </a:ln>
        </p:spPr>
      </p:sp>
      <p:sp>
        <p:nvSpPr>
          <p:cNvPr id="11" name="Text 9"/>
          <p:cNvSpPr/>
          <p:nvPr/>
        </p:nvSpPr>
        <p:spPr>
          <a:xfrm>
            <a:off x="4892040" y="1490472"/>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2" name="Text 10"/>
          <p:cNvSpPr/>
          <p:nvPr/>
        </p:nvSpPr>
        <p:spPr>
          <a:xfrm>
            <a:off x="5504688" y="1490472"/>
            <a:ext cx="3108960" cy="320040"/>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Cancellation Risk</a:t>
            </a:r>
            <a:endParaRPr lang="en-US" sz="1300" dirty="0"/>
          </a:p>
        </p:txBody>
      </p:sp>
      <p:sp>
        <p:nvSpPr>
          <p:cNvPr id="13" name="Text 11"/>
          <p:cNvSpPr/>
          <p:nvPr/>
        </p:nvSpPr>
        <p:spPr>
          <a:xfrm>
            <a:off x="5504688" y="1828800"/>
            <a:ext cx="3108960" cy="868680"/>
          </a:xfrm>
          <a:prstGeom prst="rect">
            <a:avLst/>
          </a:prstGeom>
          <a:noFill/>
          <a:ln/>
        </p:spPr>
        <p:txBody>
          <a:bodyPr wrap="square" rtlCol="0" anchor="t"/>
          <a:lstStyle/>
          <a:p>
            <a:pPr indent="0" marL="0">
              <a:buNone/>
            </a:pPr>
            <a:r>
              <a:rPr lang="en-US" sz="1050" dirty="0">
                <a:solidFill>
                  <a:srgbClr val="6B7A8D"/>
                </a:solidFill>
                <a:latin typeface="Calibri" pitchFamily="34" charset="0"/>
                <a:ea typeface="Calibri" pitchFamily="34" charset="-122"/>
                <a:cs typeface="Calibri" pitchFamily="34" charset="-120"/>
              </a:rPr>
              <a:t>27.5% of all bookings were cancelled. Online Travel Agencies account for 35.4% cancellation rate — 3× the Direct channel.</a:t>
            </a:r>
            <a:endParaRPr lang="en-US" sz="1050" dirty="0"/>
          </a:p>
        </p:txBody>
      </p:sp>
      <p:sp>
        <p:nvSpPr>
          <p:cNvPr id="14" name="Shape 12"/>
          <p:cNvSpPr/>
          <p:nvPr/>
        </p:nvSpPr>
        <p:spPr>
          <a:xfrm>
            <a:off x="365760" y="3017520"/>
            <a:ext cx="4023360" cy="1508760"/>
          </a:xfrm>
          <a:prstGeom prst="roundRect">
            <a:avLst>
              <a:gd name="adj" fmla="val 7273"/>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5" name="Shape 13"/>
          <p:cNvSpPr/>
          <p:nvPr/>
        </p:nvSpPr>
        <p:spPr>
          <a:xfrm>
            <a:off x="502920" y="3182112"/>
            <a:ext cx="502920" cy="502920"/>
          </a:xfrm>
          <a:prstGeom prst="ellipse">
            <a:avLst/>
          </a:prstGeom>
          <a:solidFill>
            <a:srgbClr val="1B3A5C"/>
          </a:solidFill>
          <a:ln w="12700">
            <a:solidFill>
              <a:srgbClr val="1B3A5C"/>
            </a:solidFill>
            <a:prstDash val="solid"/>
          </a:ln>
        </p:spPr>
      </p:sp>
      <p:sp>
        <p:nvSpPr>
          <p:cNvPr id="16" name="Text 14"/>
          <p:cNvSpPr/>
          <p:nvPr/>
        </p:nvSpPr>
        <p:spPr>
          <a:xfrm>
            <a:off x="502920" y="3182112"/>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17" name="Text 15"/>
          <p:cNvSpPr/>
          <p:nvPr/>
        </p:nvSpPr>
        <p:spPr>
          <a:xfrm>
            <a:off x="1115568" y="3182112"/>
            <a:ext cx="3108960" cy="320040"/>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Geographic Mix</a:t>
            </a:r>
            <a:endParaRPr lang="en-US" sz="1300" dirty="0"/>
          </a:p>
        </p:txBody>
      </p:sp>
      <p:sp>
        <p:nvSpPr>
          <p:cNvPr id="18" name="Text 16"/>
          <p:cNvSpPr/>
          <p:nvPr/>
        </p:nvSpPr>
        <p:spPr>
          <a:xfrm>
            <a:off x="1115568" y="3520440"/>
            <a:ext cx="3108960" cy="868680"/>
          </a:xfrm>
          <a:prstGeom prst="rect">
            <a:avLst/>
          </a:prstGeom>
          <a:noFill/>
          <a:ln/>
        </p:spPr>
        <p:txBody>
          <a:bodyPr wrap="square" rtlCol="0" anchor="t"/>
          <a:lstStyle/>
          <a:p>
            <a:pPr indent="0" marL="0">
              <a:buNone/>
            </a:pPr>
            <a:r>
              <a:rPr lang="en-US" sz="1050" dirty="0">
                <a:solidFill>
                  <a:srgbClr val="6B7A8D"/>
                </a:solidFill>
                <a:latin typeface="Calibri" pitchFamily="34" charset="0"/>
                <a:ea typeface="Calibri" pitchFamily="34" charset="-122"/>
                <a:cs typeface="Calibri" pitchFamily="34" charset="-120"/>
              </a:rPr>
              <a:t>Portugal dominates with 31.9% of bookings. UK, France, Spain &amp; Germany together add another 38.6% of demand.</a:t>
            </a:r>
            <a:endParaRPr lang="en-US" sz="1050" dirty="0"/>
          </a:p>
        </p:txBody>
      </p:sp>
      <p:sp>
        <p:nvSpPr>
          <p:cNvPr id="19" name="Shape 17"/>
          <p:cNvSpPr/>
          <p:nvPr/>
        </p:nvSpPr>
        <p:spPr>
          <a:xfrm>
            <a:off x="4754880" y="3017520"/>
            <a:ext cx="4023360" cy="1508760"/>
          </a:xfrm>
          <a:prstGeom prst="roundRect">
            <a:avLst>
              <a:gd name="adj" fmla="val 7273"/>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20" name="Shape 18"/>
          <p:cNvSpPr/>
          <p:nvPr/>
        </p:nvSpPr>
        <p:spPr>
          <a:xfrm>
            <a:off x="4892040" y="3182112"/>
            <a:ext cx="502920" cy="502920"/>
          </a:xfrm>
          <a:prstGeom prst="ellipse">
            <a:avLst/>
          </a:prstGeom>
          <a:solidFill>
            <a:srgbClr val="E8A838"/>
          </a:solidFill>
          <a:ln w="12700">
            <a:solidFill>
              <a:srgbClr val="E8A838"/>
            </a:solidFill>
            <a:prstDash val="solid"/>
          </a:ln>
        </p:spPr>
      </p:sp>
      <p:sp>
        <p:nvSpPr>
          <p:cNvPr id="21" name="Text 19"/>
          <p:cNvSpPr/>
          <p:nvPr/>
        </p:nvSpPr>
        <p:spPr>
          <a:xfrm>
            <a:off x="4892040" y="3182112"/>
            <a:ext cx="502920" cy="502920"/>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22" name="Text 20"/>
          <p:cNvSpPr/>
          <p:nvPr/>
        </p:nvSpPr>
        <p:spPr>
          <a:xfrm>
            <a:off x="5504688" y="3182112"/>
            <a:ext cx="3108960" cy="320040"/>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Demand Seasonality</a:t>
            </a:r>
            <a:endParaRPr lang="en-US" sz="1300" dirty="0"/>
          </a:p>
        </p:txBody>
      </p:sp>
      <p:sp>
        <p:nvSpPr>
          <p:cNvPr id="23" name="Text 21"/>
          <p:cNvSpPr/>
          <p:nvPr/>
        </p:nvSpPr>
        <p:spPr>
          <a:xfrm>
            <a:off x="5504688" y="3520440"/>
            <a:ext cx="3108960" cy="868680"/>
          </a:xfrm>
          <a:prstGeom prst="rect">
            <a:avLst/>
          </a:prstGeom>
          <a:noFill/>
          <a:ln/>
        </p:spPr>
        <p:txBody>
          <a:bodyPr wrap="square" rtlCol="0" anchor="t"/>
          <a:lstStyle/>
          <a:p>
            <a:pPr indent="0" marL="0">
              <a:buNone/>
            </a:pPr>
            <a:r>
              <a:rPr lang="en-US" sz="1050" dirty="0">
                <a:solidFill>
                  <a:srgbClr val="6B7A8D"/>
                </a:solidFill>
                <a:latin typeface="Calibri" pitchFamily="34" charset="0"/>
                <a:ea typeface="Calibri" pitchFamily="34" charset="-122"/>
                <a:cs typeface="Calibri" pitchFamily="34" charset="-120"/>
              </a:rPr>
              <a:t>August is peak month with 11,210 bookings &amp; ADR of €151.25. Winter months (Nov–Feb) see 40–55% lower volume.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5C"/>
          </a:solidFill>
          <a:ln w="12700">
            <a:solidFill>
              <a:srgbClr val="1B3A5C"/>
            </a:solidFill>
            <a:prstDash val="solid"/>
          </a:ln>
        </p:spPr>
      </p:sp>
      <p:sp>
        <p:nvSpPr>
          <p:cNvPr id="3" name="Text 1"/>
          <p:cNvSpPr/>
          <p:nvPr/>
        </p:nvSpPr>
        <p:spPr>
          <a:xfrm>
            <a:off x="457200" y="0"/>
            <a:ext cx="8229600" cy="411480"/>
          </a:xfrm>
          <a:prstGeom prst="rect">
            <a:avLst/>
          </a:prstGeom>
          <a:noFill/>
          <a:ln/>
        </p:spPr>
        <p:txBody>
          <a:bodyPr wrap="square" rtlCol="0" anchor="ctr"/>
          <a:lstStyle/>
          <a:p>
            <a:pPr indent="0" marL="0">
              <a:buNone/>
            </a:pPr>
            <a:r>
              <a:rPr lang="en-US" sz="900" b="1" spc="250" kern="0" dirty="0">
                <a:solidFill>
                  <a:srgbClr val="E8A838"/>
                </a:solidFill>
                <a:latin typeface="Calibri" pitchFamily="34" charset="0"/>
                <a:ea typeface="Calibri" pitchFamily="34" charset="-122"/>
                <a:cs typeface="Calibri" pitchFamily="34" charset="-120"/>
              </a:rPr>
              <a:t>PART 1 · BOOKING VOLUME &amp; SEASONALITY</a:t>
            </a:r>
            <a:endParaRPr lang="en-US" sz="900" dirty="0"/>
          </a:p>
        </p:txBody>
      </p:sp>
      <p:sp>
        <p:nvSpPr>
          <p:cNvPr id="4" name="Text 2"/>
          <p:cNvSpPr/>
          <p:nvPr/>
        </p:nvSpPr>
        <p:spPr>
          <a:xfrm>
            <a:off x="457200" y="384048"/>
            <a:ext cx="8229600" cy="530352"/>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Demand Patterns &amp; Hotel Type Breakdown</a:t>
            </a:r>
            <a:endParaRPr lang="en-US" sz="2200" dirty="0"/>
          </a:p>
        </p:txBody>
      </p:sp>
      <p:graphicFrame>
        <p:nvGraphicFramePr>
          <p:cNvPr id="5" name="Chart 0" descr=""/>
          <p:cNvGraphicFramePr/>
          <p:nvPr/>
        </p:nvGraphicFramePr>
        <p:xfrm>
          <a:off x="365760" y="1097280"/>
          <a:ext cx="54864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80760" y="1143000"/>
            <a:ext cx="2834640" cy="749808"/>
          </a:xfrm>
          <a:prstGeom prst="roundRect">
            <a:avLst>
              <a:gd name="adj" fmla="val 9756"/>
            </a:avLst>
          </a:prstGeom>
          <a:solidFill>
            <a:srgbClr val="F0F4F8"/>
          </a:solidFill>
          <a:ln w="12700">
            <a:solidFill>
              <a:srgbClr val="DCE4EF"/>
            </a:solidFill>
            <a:prstDash val="solid"/>
          </a:ln>
        </p:spPr>
      </p:sp>
      <p:sp>
        <p:nvSpPr>
          <p:cNvPr id="7" name="Shape 4"/>
          <p:cNvSpPr/>
          <p:nvPr/>
        </p:nvSpPr>
        <p:spPr>
          <a:xfrm>
            <a:off x="6080760" y="1143000"/>
            <a:ext cx="201168" cy="749808"/>
          </a:xfrm>
          <a:prstGeom prst="rect">
            <a:avLst/>
          </a:prstGeom>
          <a:solidFill>
            <a:srgbClr val="E8A838"/>
          </a:solidFill>
          <a:ln w="12700">
            <a:solidFill>
              <a:srgbClr val="E8A838"/>
            </a:solidFill>
            <a:prstDash val="solid"/>
          </a:ln>
        </p:spPr>
      </p:sp>
      <p:sp>
        <p:nvSpPr>
          <p:cNvPr id="8" name="Text 5"/>
          <p:cNvSpPr/>
          <p:nvPr/>
        </p:nvSpPr>
        <p:spPr>
          <a:xfrm>
            <a:off x="6400800" y="1188720"/>
            <a:ext cx="2377440" cy="384048"/>
          </a:xfrm>
          <a:prstGeom prst="rect">
            <a:avLst/>
          </a:prstGeom>
          <a:noFill/>
          <a:ln/>
        </p:spPr>
        <p:txBody>
          <a:bodyPr wrap="square" rtlCol="0" anchor="ctr"/>
          <a:lstStyle/>
          <a:p>
            <a:pPr indent="0" marL="0">
              <a:buNone/>
            </a:pPr>
            <a:r>
              <a:rPr lang="en-US" sz="2200" b="1" dirty="0">
                <a:solidFill>
                  <a:srgbClr val="1B3A5C"/>
                </a:solidFill>
                <a:latin typeface="Calibri" pitchFamily="34" charset="0"/>
                <a:ea typeface="Calibri" pitchFamily="34" charset="-122"/>
                <a:cs typeface="Calibri" pitchFamily="34" charset="-120"/>
              </a:rPr>
              <a:t>11,210</a:t>
            </a:r>
            <a:endParaRPr lang="en-US" sz="2200" dirty="0"/>
          </a:p>
        </p:txBody>
      </p:sp>
      <p:sp>
        <p:nvSpPr>
          <p:cNvPr id="9" name="Text 6"/>
          <p:cNvSpPr/>
          <p:nvPr/>
        </p:nvSpPr>
        <p:spPr>
          <a:xfrm>
            <a:off x="6400800" y="1572768"/>
            <a:ext cx="2377440" cy="256032"/>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Peak Bookings (Aug)</a:t>
            </a:r>
            <a:endParaRPr lang="en-US" sz="1000" dirty="0"/>
          </a:p>
        </p:txBody>
      </p:sp>
      <p:sp>
        <p:nvSpPr>
          <p:cNvPr id="10" name="Shape 7"/>
          <p:cNvSpPr/>
          <p:nvPr/>
        </p:nvSpPr>
        <p:spPr>
          <a:xfrm>
            <a:off x="6080760" y="2039112"/>
            <a:ext cx="2834640" cy="749808"/>
          </a:xfrm>
          <a:prstGeom prst="roundRect">
            <a:avLst>
              <a:gd name="adj" fmla="val 9756"/>
            </a:avLst>
          </a:prstGeom>
          <a:solidFill>
            <a:srgbClr val="F0F4F8"/>
          </a:solidFill>
          <a:ln w="12700">
            <a:solidFill>
              <a:srgbClr val="DCE4EF"/>
            </a:solidFill>
            <a:prstDash val="solid"/>
          </a:ln>
        </p:spPr>
      </p:sp>
      <p:sp>
        <p:nvSpPr>
          <p:cNvPr id="11" name="Shape 8"/>
          <p:cNvSpPr/>
          <p:nvPr/>
        </p:nvSpPr>
        <p:spPr>
          <a:xfrm>
            <a:off x="6080760" y="2039112"/>
            <a:ext cx="201168" cy="749808"/>
          </a:xfrm>
          <a:prstGeom prst="rect">
            <a:avLst/>
          </a:prstGeom>
          <a:solidFill>
            <a:srgbClr val="4FB3D9"/>
          </a:solidFill>
          <a:ln w="12700">
            <a:solidFill>
              <a:srgbClr val="4FB3D9"/>
            </a:solidFill>
            <a:prstDash val="solid"/>
          </a:ln>
        </p:spPr>
      </p:sp>
      <p:sp>
        <p:nvSpPr>
          <p:cNvPr id="12" name="Text 9"/>
          <p:cNvSpPr/>
          <p:nvPr/>
        </p:nvSpPr>
        <p:spPr>
          <a:xfrm>
            <a:off x="6400800" y="2084832"/>
            <a:ext cx="2377440" cy="384048"/>
          </a:xfrm>
          <a:prstGeom prst="rect">
            <a:avLst/>
          </a:prstGeom>
          <a:noFill/>
          <a:ln/>
        </p:spPr>
        <p:txBody>
          <a:bodyPr wrap="square" rtlCol="0" anchor="ctr"/>
          <a:lstStyle/>
          <a:p>
            <a:pPr indent="0" marL="0">
              <a:buNone/>
            </a:pPr>
            <a:r>
              <a:rPr lang="en-US" sz="2200" b="1" dirty="0">
                <a:solidFill>
                  <a:srgbClr val="1B3A5C"/>
                </a:solidFill>
                <a:latin typeface="Calibri" pitchFamily="34" charset="0"/>
                <a:ea typeface="Calibri" pitchFamily="34" charset="-122"/>
                <a:cs typeface="Calibri" pitchFamily="34" charset="-120"/>
              </a:rPr>
              <a:t>4,664</a:t>
            </a:r>
            <a:endParaRPr lang="en-US" sz="2200" dirty="0"/>
          </a:p>
        </p:txBody>
      </p:sp>
      <p:sp>
        <p:nvSpPr>
          <p:cNvPr id="13" name="Text 10"/>
          <p:cNvSpPr/>
          <p:nvPr/>
        </p:nvSpPr>
        <p:spPr>
          <a:xfrm>
            <a:off x="6400800" y="2468880"/>
            <a:ext cx="2377440" cy="256032"/>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Lowest (Jan)</a:t>
            </a:r>
            <a:endParaRPr lang="en-US" sz="1000" dirty="0"/>
          </a:p>
        </p:txBody>
      </p:sp>
      <p:sp>
        <p:nvSpPr>
          <p:cNvPr id="14" name="Shape 11"/>
          <p:cNvSpPr/>
          <p:nvPr/>
        </p:nvSpPr>
        <p:spPr>
          <a:xfrm>
            <a:off x="6080760" y="2935224"/>
            <a:ext cx="2834640" cy="749808"/>
          </a:xfrm>
          <a:prstGeom prst="roundRect">
            <a:avLst>
              <a:gd name="adj" fmla="val 9756"/>
            </a:avLst>
          </a:prstGeom>
          <a:solidFill>
            <a:srgbClr val="F0F4F8"/>
          </a:solidFill>
          <a:ln w="12700">
            <a:solidFill>
              <a:srgbClr val="DCE4EF"/>
            </a:solidFill>
            <a:prstDash val="solid"/>
          </a:ln>
        </p:spPr>
      </p:sp>
      <p:sp>
        <p:nvSpPr>
          <p:cNvPr id="15" name="Shape 12"/>
          <p:cNvSpPr/>
          <p:nvPr/>
        </p:nvSpPr>
        <p:spPr>
          <a:xfrm>
            <a:off x="6080760" y="2935224"/>
            <a:ext cx="201168" cy="749808"/>
          </a:xfrm>
          <a:prstGeom prst="rect">
            <a:avLst/>
          </a:prstGeom>
          <a:solidFill>
            <a:srgbClr val="2E86AB"/>
          </a:solidFill>
          <a:ln w="12700">
            <a:solidFill>
              <a:srgbClr val="2E86AB"/>
            </a:solidFill>
            <a:prstDash val="solid"/>
          </a:ln>
        </p:spPr>
      </p:sp>
      <p:sp>
        <p:nvSpPr>
          <p:cNvPr id="16" name="Text 13"/>
          <p:cNvSpPr/>
          <p:nvPr/>
        </p:nvSpPr>
        <p:spPr>
          <a:xfrm>
            <a:off x="6400800" y="2980944"/>
            <a:ext cx="2377440" cy="384048"/>
          </a:xfrm>
          <a:prstGeom prst="rect">
            <a:avLst/>
          </a:prstGeom>
          <a:noFill/>
          <a:ln/>
        </p:spPr>
        <p:txBody>
          <a:bodyPr wrap="square" rtlCol="0" anchor="ctr"/>
          <a:lstStyle/>
          <a:p>
            <a:pPr indent="0" marL="0">
              <a:buNone/>
            </a:pPr>
            <a:r>
              <a:rPr lang="en-US" sz="2200" b="1" dirty="0">
                <a:solidFill>
                  <a:srgbClr val="1B3A5C"/>
                </a:solidFill>
                <a:latin typeface="Calibri" pitchFamily="34" charset="0"/>
                <a:ea typeface="Calibri" pitchFamily="34" charset="-122"/>
                <a:cs typeface="Calibri" pitchFamily="34" charset="-120"/>
              </a:rPr>
              <a:t>3.63</a:t>
            </a:r>
            <a:endParaRPr lang="en-US" sz="2200" dirty="0"/>
          </a:p>
        </p:txBody>
      </p:sp>
      <p:sp>
        <p:nvSpPr>
          <p:cNvPr id="17" name="Text 14"/>
          <p:cNvSpPr/>
          <p:nvPr/>
        </p:nvSpPr>
        <p:spPr>
          <a:xfrm>
            <a:off x="6400800" y="3364992"/>
            <a:ext cx="2377440" cy="256032"/>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Avg Nights/Stay</a:t>
            </a:r>
            <a:endParaRPr lang="en-US" sz="1000" dirty="0"/>
          </a:p>
        </p:txBody>
      </p:sp>
      <p:sp>
        <p:nvSpPr>
          <p:cNvPr id="18" name="Shape 15"/>
          <p:cNvSpPr/>
          <p:nvPr/>
        </p:nvSpPr>
        <p:spPr>
          <a:xfrm>
            <a:off x="6080760" y="3831336"/>
            <a:ext cx="2834640" cy="749808"/>
          </a:xfrm>
          <a:prstGeom prst="roundRect">
            <a:avLst>
              <a:gd name="adj" fmla="val 9756"/>
            </a:avLst>
          </a:prstGeom>
          <a:solidFill>
            <a:srgbClr val="F0F4F8"/>
          </a:solidFill>
          <a:ln w="12700">
            <a:solidFill>
              <a:srgbClr val="DCE4EF"/>
            </a:solidFill>
            <a:prstDash val="solid"/>
          </a:ln>
        </p:spPr>
      </p:sp>
      <p:sp>
        <p:nvSpPr>
          <p:cNvPr id="19" name="Shape 16"/>
          <p:cNvSpPr/>
          <p:nvPr/>
        </p:nvSpPr>
        <p:spPr>
          <a:xfrm>
            <a:off x="6080760" y="3831336"/>
            <a:ext cx="201168" cy="749808"/>
          </a:xfrm>
          <a:prstGeom prst="rect">
            <a:avLst/>
          </a:prstGeom>
          <a:solidFill>
            <a:srgbClr val="1B3A5C"/>
          </a:solidFill>
          <a:ln w="12700">
            <a:solidFill>
              <a:srgbClr val="1B3A5C"/>
            </a:solidFill>
            <a:prstDash val="solid"/>
          </a:ln>
        </p:spPr>
      </p:sp>
      <p:sp>
        <p:nvSpPr>
          <p:cNvPr id="20" name="Text 17"/>
          <p:cNvSpPr/>
          <p:nvPr/>
        </p:nvSpPr>
        <p:spPr>
          <a:xfrm>
            <a:off x="6400800" y="3877056"/>
            <a:ext cx="2377440" cy="384048"/>
          </a:xfrm>
          <a:prstGeom prst="rect">
            <a:avLst/>
          </a:prstGeom>
          <a:noFill/>
          <a:ln/>
        </p:spPr>
        <p:txBody>
          <a:bodyPr wrap="square" rtlCol="0" anchor="ctr"/>
          <a:lstStyle/>
          <a:p>
            <a:pPr indent="0" marL="0">
              <a:buNone/>
            </a:pPr>
            <a:r>
              <a:rPr lang="en-US" sz="2200" b="1" dirty="0">
                <a:solidFill>
                  <a:srgbClr val="1B3A5C"/>
                </a:solidFill>
                <a:latin typeface="Calibri" pitchFamily="34" charset="0"/>
                <a:ea typeface="Calibri" pitchFamily="34" charset="-122"/>
                <a:cs typeface="Calibri" pitchFamily="34" charset="-120"/>
              </a:rPr>
              <a:t>104d</a:t>
            </a:r>
            <a:endParaRPr lang="en-US" sz="2200" dirty="0"/>
          </a:p>
        </p:txBody>
      </p:sp>
      <p:sp>
        <p:nvSpPr>
          <p:cNvPr id="21" name="Text 18"/>
          <p:cNvSpPr/>
          <p:nvPr/>
        </p:nvSpPr>
        <p:spPr>
          <a:xfrm>
            <a:off x="6400800" y="4261104"/>
            <a:ext cx="2377440" cy="256032"/>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Avg Lead Time</a:t>
            </a:r>
            <a:endParaRPr lang="en-US" sz="1000" dirty="0"/>
          </a:p>
        </p:txBody>
      </p:sp>
      <p:sp>
        <p:nvSpPr>
          <p:cNvPr id="22" name="Text 19"/>
          <p:cNvSpPr/>
          <p:nvPr/>
        </p:nvSpPr>
        <p:spPr>
          <a:xfrm>
            <a:off x="6080760" y="4645152"/>
            <a:ext cx="2834640" cy="274320"/>
          </a:xfrm>
          <a:prstGeom prst="rect">
            <a:avLst/>
          </a:prstGeom>
          <a:noFill/>
          <a:ln/>
        </p:spPr>
        <p:txBody>
          <a:bodyPr wrap="square" rtlCol="0" anchor="ctr"/>
          <a:lstStyle/>
          <a:p>
            <a:pPr indent="0" marL="0">
              <a:buNone/>
            </a:pPr>
            <a:r>
              <a:rPr lang="en-US" sz="1000" b="1" dirty="0">
                <a:solidFill>
                  <a:srgbClr val="1B3A5C"/>
                </a:solidFill>
                <a:latin typeface="Cambria" pitchFamily="34" charset="0"/>
                <a:ea typeface="Cambria" pitchFamily="34" charset="-122"/>
                <a:cs typeface="Cambria" pitchFamily="34" charset="-120"/>
              </a:rPr>
              <a:t>Hotel Type Comparison</a:t>
            </a:r>
            <a:endParaRPr lang="en-US" sz="1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080760" y="4919472"/>
          <a:ext cx="2834640" cy="548640"/>
        </p:xfrm>
        <a:graphic>
          <a:graphicData uri="http://schemas.openxmlformats.org/drawingml/2006/table">
            <a:tbl>
              <a:tblPr/>
              <a:tblGrid>
                <a:gridCol w="944880"/>
                <a:gridCol w="944880"/>
                <a:gridCol w="944880"/>
              </a:tblGrid>
              <a:tr h="182880">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Hotel</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Bookings</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B3A5C"/>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Avg Nights</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solidFill>
                      <a:srgbClr val="1B3A5C"/>
                    </a:solidFill>
                  </a:tcPr>
                </a:tc>
              </a:tr>
              <a:tr h="182880">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City Hotel</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53,051 (61%)</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3.14</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r h="182880">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Resort Hotel</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33,919 (39%)</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4.39</a:t>
                      </a:r>
                      <a:endParaRPr lang="en-US" sz="900" dirty="0">
                        <a:latin typeface="Calibri" charset="0"/>
                        <a:ea typeface="Calibri" charset="0"/>
                        <a:cs typeface="Calibri" charset="0"/>
                      </a:endParaRPr>
                    </a:p>
                  </a:txBody>
                  <a:tcPr marL="91440" marR="91440" marT="45720" marB="45720">
                    <a:lnL w="6350" cap="flat" cmpd="sng" algn="ctr">
                      <a:solidFill>
                        <a:srgbClr val="DCE4EF"/>
                      </a:solidFill>
                      <a:prstDash val="solid"/>
                      <a:round/>
                      <a:headEnd type="none" w="med" len="med"/>
                      <a:tailEnd type="none" w="med" len="med"/>
                    </a:lnL>
                    <a:lnR w="6350" cap="flat" cmpd="sng" algn="ctr">
                      <a:solidFill>
                        <a:srgbClr val="DCE4EF"/>
                      </a:solidFill>
                      <a:prstDash val="solid"/>
                      <a:round/>
                      <a:headEnd type="none" w="med" len="med"/>
                      <a:tailEnd type="none" w="med" len="med"/>
                    </a:lnR>
                    <a:lnT w="6350" cap="flat" cmpd="sng" algn="ctr">
                      <a:solidFill>
                        <a:srgbClr val="DCE4EF"/>
                      </a:solidFill>
                      <a:prstDash val="solid"/>
                      <a:round/>
                      <a:headEnd type="none" w="med" len="med"/>
                      <a:tailEnd type="none" w="med" len="med"/>
                    </a:lnT>
                    <a:lnB w="6350" cap="flat" cmpd="sng" algn="ctr">
                      <a:solidFill>
                        <a:srgbClr val="DCE4EF"/>
                      </a:solidFill>
                      <a:prstDash val="solid"/>
                      <a:round/>
                      <a:headEnd type="none" w="med" len="med"/>
                      <a:tailEnd type="none" w="med" len="med"/>
                    </a:lnB>
                  </a:tcPr>
                </a:tc>
              </a:tr>
            </a:tbl>
          </a:graphicData>
        </a:graphic>
      </p:graphicFrame>
      <p:sp>
        <p:nvSpPr>
          <p:cNvPr id="24" name="Shape 20"/>
          <p:cNvSpPr/>
          <p:nvPr/>
        </p:nvSpPr>
        <p:spPr>
          <a:xfrm>
            <a:off x="365760" y="4114800"/>
            <a:ext cx="5486400" cy="502920"/>
          </a:xfrm>
          <a:prstGeom prst="roundRect">
            <a:avLst>
              <a:gd name="adj" fmla="val 12727"/>
            </a:avLst>
          </a:prstGeom>
          <a:solidFill>
            <a:srgbClr val="FFF8E6"/>
          </a:solidFill>
          <a:ln w="12700">
            <a:solidFill>
              <a:srgbClr val="E8A838"/>
            </a:solidFill>
            <a:prstDash val="solid"/>
          </a:ln>
        </p:spPr>
      </p:sp>
      <p:sp>
        <p:nvSpPr>
          <p:cNvPr id="25" name="Text 21"/>
          <p:cNvSpPr/>
          <p:nvPr/>
        </p:nvSpPr>
        <p:spPr>
          <a:xfrm>
            <a:off x="457200" y="4142232"/>
            <a:ext cx="5303520" cy="438912"/>
          </a:xfrm>
          <a:prstGeom prst="rect">
            <a:avLst/>
          </a:prstGeom>
          <a:noFill/>
          <a:ln/>
        </p:spPr>
        <p:txBody>
          <a:bodyPr wrap="square" rtlCol="0" anchor="ctr"/>
          <a:lstStyle/>
          <a:p>
            <a:pPr indent="0" marL="0">
              <a:buNone/>
            </a:pPr>
            <a:r>
              <a:rPr lang="en-US" sz="1050" dirty="0">
                <a:solidFill>
                  <a:srgbClr val="1B3A5C"/>
                </a:solidFill>
                <a:latin typeface="Calibri" pitchFamily="34" charset="0"/>
                <a:ea typeface="Calibri" pitchFamily="34" charset="-122"/>
                <a:cs typeface="Calibri" pitchFamily="34" charset="-120"/>
              </a:rPr>
              <a:t>💡  August peaks at 11,210 bookings with ADR €151.25 — the highest revenue opportunity of the year.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E86AB"/>
          </a:solidFill>
          <a:ln w="12700">
            <a:solidFill>
              <a:srgbClr val="2E86AB"/>
            </a:solidFill>
            <a:prstDash val="solid"/>
          </a:ln>
        </p:spPr>
      </p:sp>
      <p:sp>
        <p:nvSpPr>
          <p:cNvPr id="3" name="Text 1"/>
          <p:cNvSpPr/>
          <p:nvPr/>
        </p:nvSpPr>
        <p:spPr>
          <a:xfrm>
            <a:off x="457200" y="0"/>
            <a:ext cx="8229600" cy="411480"/>
          </a:xfrm>
          <a:prstGeom prst="rect">
            <a:avLst/>
          </a:prstGeom>
          <a:noFill/>
          <a:ln/>
        </p:spPr>
        <p:txBody>
          <a:bodyPr wrap="square" rtlCol="0" anchor="ctr"/>
          <a:lstStyle/>
          <a:p>
            <a:pPr indent="0" marL="0">
              <a:buNone/>
            </a:pPr>
            <a:r>
              <a:rPr lang="en-US" sz="900" b="1" spc="250" kern="0" dirty="0">
                <a:solidFill>
                  <a:srgbClr val="FFFFFF"/>
                </a:solidFill>
                <a:latin typeface="Calibri" pitchFamily="34" charset="0"/>
                <a:ea typeface="Calibri" pitchFamily="34" charset="-122"/>
                <a:cs typeface="Calibri" pitchFamily="34" charset="-120"/>
              </a:rPr>
              <a:t>PART 2 · REVENUE &amp; ADR ANALYSIS</a:t>
            </a:r>
            <a:endParaRPr lang="en-US" sz="900" dirty="0"/>
          </a:p>
        </p:txBody>
      </p:sp>
      <p:sp>
        <p:nvSpPr>
          <p:cNvPr id="4" name="Text 2"/>
          <p:cNvSpPr/>
          <p:nvPr/>
        </p:nvSpPr>
        <p:spPr>
          <a:xfrm>
            <a:off x="457200" y="384048"/>
            <a:ext cx="8229600" cy="530352"/>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Pricing Trends, Growth &amp; Yield Opportunities</a:t>
            </a:r>
            <a:endParaRPr lang="en-US" sz="2200" dirty="0"/>
          </a:p>
        </p:txBody>
      </p:sp>
      <p:graphicFrame>
        <p:nvGraphicFramePr>
          <p:cNvPr id="5" name="Chart 0" descr=""/>
          <p:cNvGraphicFramePr/>
          <p:nvPr/>
        </p:nvGraphicFramePr>
        <p:xfrm>
          <a:off x="365760" y="1097280"/>
          <a:ext cx="502920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577840" y="1097280"/>
          <a:ext cx="32004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365760" y="3657600"/>
            <a:ext cx="2560320" cy="1234440"/>
          </a:xfrm>
          <a:prstGeom prst="roundRect">
            <a:avLst>
              <a:gd name="adj" fmla="val 8889"/>
            </a:avLst>
          </a:prstGeom>
          <a:solidFill>
            <a:srgbClr val="1B3A5C"/>
          </a:solidFill>
          <a:ln w="12700">
            <a:solidFill>
              <a:srgbClr val="1B3A5C"/>
            </a:solidFill>
            <a:prstDash val="solid"/>
          </a:ln>
        </p:spPr>
      </p:sp>
      <p:sp>
        <p:nvSpPr>
          <p:cNvPr id="8" name="Text 4"/>
          <p:cNvSpPr/>
          <p:nvPr/>
        </p:nvSpPr>
        <p:spPr>
          <a:xfrm>
            <a:off x="365760" y="3730752"/>
            <a:ext cx="2560320" cy="658368"/>
          </a:xfrm>
          <a:prstGeom prst="rect">
            <a:avLst/>
          </a:prstGeom>
          <a:noFill/>
          <a:ln/>
        </p:spPr>
        <p:txBody>
          <a:bodyPr wrap="square" rtlCol="0" anchor="ctr"/>
          <a:lstStyle/>
          <a:p>
            <a:pPr algn="ctr" indent="0" marL="0">
              <a:buNone/>
            </a:pPr>
            <a:r>
              <a:rPr lang="en-US" sz="3400" b="1" dirty="0">
                <a:solidFill>
                  <a:srgbClr val="E8A838"/>
                </a:solidFill>
                <a:latin typeface="Calibri" pitchFamily="34" charset="0"/>
                <a:ea typeface="Calibri" pitchFamily="34" charset="-122"/>
                <a:cs typeface="Calibri" pitchFamily="34" charset="-120"/>
              </a:rPr>
              <a:t>+28.6%</a:t>
            </a:r>
            <a:endParaRPr lang="en-US" sz="3400" dirty="0"/>
          </a:p>
        </p:txBody>
      </p:sp>
      <p:sp>
        <p:nvSpPr>
          <p:cNvPr id="9" name="Text 5"/>
          <p:cNvSpPr/>
          <p:nvPr/>
        </p:nvSpPr>
        <p:spPr>
          <a:xfrm>
            <a:off x="365760" y="4343400"/>
            <a:ext cx="2560320" cy="411480"/>
          </a:xfrm>
          <a:prstGeom prst="rect">
            <a:avLst/>
          </a:prstGeom>
          <a:noFill/>
          <a:ln/>
        </p:spPr>
        <p:txBody>
          <a:bodyPr wrap="square" rtlCol="0" anchor="ctr"/>
          <a:lstStyle/>
          <a:p>
            <a:pPr algn="ctr" indent="0" marL="0">
              <a:buNone/>
            </a:pPr>
            <a:r>
              <a:rPr lang="en-US" sz="1100" dirty="0">
                <a:solidFill>
                  <a:srgbClr val="A8C4D8"/>
                </a:solidFill>
                <a:latin typeface="Calibri" pitchFamily="34" charset="0"/>
                <a:ea typeface="Calibri" pitchFamily="34" charset="-122"/>
                <a:cs typeface="Calibri" pitchFamily="34" charset="-120"/>
              </a:rPr>
              <a:t>ADR growth 2015→2017</a:t>
            </a:r>
            <a:endParaRPr lang="en-US" sz="1100" dirty="0"/>
          </a:p>
        </p:txBody>
      </p:sp>
      <p:sp>
        <p:nvSpPr>
          <p:cNvPr id="10" name="Shape 6"/>
          <p:cNvSpPr/>
          <p:nvPr/>
        </p:nvSpPr>
        <p:spPr>
          <a:xfrm>
            <a:off x="3108960" y="3657600"/>
            <a:ext cx="2377440" cy="1234440"/>
          </a:xfrm>
          <a:prstGeom prst="roundRect">
            <a:avLst>
              <a:gd name="adj" fmla="val 8889"/>
            </a:avLst>
          </a:prstGeom>
          <a:solidFill>
            <a:srgbClr val="F0F4F8"/>
          </a:solidFill>
          <a:ln w="12700">
            <a:solidFill>
              <a:srgbClr val="DCE4EF"/>
            </a:solidFill>
            <a:prstDash val="solid"/>
          </a:ln>
        </p:spPr>
      </p:sp>
      <p:sp>
        <p:nvSpPr>
          <p:cNvPr id="11" name="Text 7"/>
          <p:cNvSpPr/>
          <p:nvPr/>
        </p:nvSpPr>
        <p:spPr>
          <a:xfrm>
            <a:off x="3108960" y="3730752"/>
            <a:ext cx="2377440" cy="594360"/>
          </a:xfrm>
          <a:prstGeom prst="rect">
            <a:avLst/>
          </a:prstGeom>
          <a:noFill/>
          <a:ln/>
        </p:spPr>
        <p:txBody>
          <a:bodyPr wrap="square" rtlCol="0" anchor="ctr"/>
          <a:lstStyle/>
          <a:p>
            <a:pPr algn="ctr" indent="0" marL="0">
              <a:buNone/>
            </a:pPr>
            <a:r>
              <a:rPr lang="en-US" sz="2800" b="1" dirty="0">
                <a:solidFill>
                  <a:srgbClr val="2E86AB"/>
                </a:solidFill>
                <a:latin typeface="Calibri" pitchFamily="34" charset="0"/>
                <a:ea typeface="Calibri" pitchFamily="34" charset="-122"/>
                <a:cs typeface="Calibri" pitchFamily="34" charset="-120"/>
              </a:rPr>
              <a:t>€151.25</a:t>
            </a:r>
            <a:endParaRPr lang="en-US" sz="2800" dirty="0"/>
          </a:p>
        </p:txBody>
      </p:sp>
      <p:sp>
        <p:nvSpPr>
          <p:cNvPr id="12" name="Text 8"/>
          <p:cNvSpPr/>
          <p:nvPr/>
        </p:nvSpPr>
        <p:spPr>
          <a:xfrm>
            <a:off x="3108960" y="4297680"/>
            <a:ext cx="2377440" cy="365760"/>
          </a:xfrm>
          <a:prstGeom prst="rect">
            <a:avLst/>
          </a:prstGeom>
          <a:noFill/>
          <a:ln/>
        </p:spPr>
        <p:txBody>
          <a:bodyPr wrap="square" rtlCol="0" anchor="ctr"/>
          <a:lstStyle/>
          <a:p>
            <a:pPr algn="ctr" indent="0" marL="0">
              <a:buNone/>
            </a:pPr>
            <a:r>
              <a:rPr lang="en-US" sz="1100" dirty="0">
                <a:solidFill>
                  <a:srgbClr val="6B7A8D"/>
                </a:solidFill>
                <a:latin typeface="Calibri" pitchFamily="34" charset="0"/>
                <a:ea typeface="Calibri" pitchFamily="34" charset="-122"/>
                <a:cs typeface="Calibri" pitchFamily="34" charset="-120"/>
              </a:rPr>
              <a:t>Peak ADR — August</a:t>
            </a:r>
            <a:endParaRPr lang="en-US" sz="1100" dirty="0"/>
          </a:p>
        </p:txBody>
      </p:sp>
      <p:sp>
        <p:nvSpPr>
          <p:cNvPr id="13" name="Shape 9"/>
          <p:cNvSpPr/>
          <p:nvPr/>
        </p:nvSpPr>
        <p:spPr>
          <a:xfrm>
            <a:off x="5669280" y="3657600"/>
            <a:ext cx="3063240" cy="1234440"/>
          </a:xfrm>
          <a:prstGeom prst="roundRect">
            <a:avLst>
              <a:gd name="adj" fmla="val 8889"/>
            </a:avLst>
          </a:prstGeom>
          <a:solidFill>
            <a:srgbClr val="F0F4F8"/>
          </a:solidFill>
          <a:ln w="12700">
            <a:solidFill>
              <a:srgbClr val="DCE4EF"/>
            </a:solidFill>
            <a:prstDash val="solid"/>
          </a:ln>
        </p:spPr>
      </p:sp>
      <p:sp>
        <p:nvSpPr>
          <p:cNvPr id="14" name="Text 10"/>
          <p:cNvSpPr/>
          <p:nvPr/>
        </p:nvSpPr>
        <p:spPr>
          <a:xfrm>
            <a:off x="5669280" y="3749040"/>
            <a:ext cx="3063240" cy="502920"/>
          </a:xfrm>
          <a:prstGeom prst="rect">
            <a:avLst/>
          </a:prstGeom>
          <a:noFill/>
          <a:ln/>
        </p:spPr>
        <p:txBody>
          <a:bodyPr wrap="square" rtlCol="0" anchor="ctr"/>
          <a:lstStyle/>
          <a:p>
            <a:pPr algn="ctr" indent="0" marL="0">
              <a:buNone/>
            </a:pPr>
            <a:r>
              <a:rPr lang="en-US" sz="1300" b="1" dirty="0">
                <a:solidFill>
                  <a:srgbClr val="1B3A5C"/>
                </a:solidFill>
                <a:latin typeface="Calibri" pitchFamily="34" charset="0"/>
                <a:ea typeface="Calibri" pitchFamily="34" charset="-122"/>
                <a:cs typeface="Calibri" pitchFamily="34" charset="-120"/>
              </a:rPr>
              <a:t>City: €111.40  vs  Resort: €99.11</a:t>
            </a:r>
            <a:endParaRPr lang="en-US" sz="1300" dirty="0"/>
          </a:p>
        </p:txBody>
      </p:sp>
      <p:sp>
        <p:nvSpPr>
          <p:cNvPr id="15" name="Text 11"/>
          <p:cNvSpPr/>
          <p:nvPr/>
        </p:nvSpPr>
        <p:spPr>
          <a:xfrm>
            <a:off x="5669280" y="4224528"/>
            <a:ext cx="3063240" cy="502920"/>
          </a:xfrm>
          <a:prstGeom prst="rect">
            <a:avLst/>
          </a:prstGeom>
          <a:noFill/>
          <a:ln/>
        </p:spPr>
        <p:txBody>
          <a:bodyPr wrap="square" rtlCol="0" anchor="ctr"/>
          <a:lstStyle/>
          <a:p>
            <a:pPr algn="ctr" indent="0" marL="0">
              <a:buNone/>
            </a:pPr>
            <a:r>
              <a:rPr lang="en-US" sz="1000" dirty="0">
                <a:solidFill>
                  <a:srgbClr val="6B7A8D"/>
                </a:solidFill>
                <a:latin typeface="Calibri" pitchFamily="34" charset="0"/>
                <a:ea typeface="Calibri" pitchFamily="34" charset="-122"/>
                <a:cs typeface="Calibri" pitchFamily="34" charset="-120"/>
              </a:rPr>
              <a:t>City Hotel commands a 12.4% ADR premium over Resort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5C5C"/>
          </a:solidFill>
          <a:ln w="12700">
            <a:solidFill>
              <a:srgbClr val="E05C5C"/>
            </a:solidFill>
            <a:prstDash val="solid"/>
          </a:ln>
        </p:spPr>
      </p:sp>
      <p:sp>
        <p:nvSpPr>
          <p:cNvPr id="3" name="Text 1"/>
          <p:cNvSpPr/>
          <p:nvPr/>
        </p:nvSpPr>
        <p:spPr>
          <a:xfrm>
            <a:off x="457200" y="0"/>
            <a:ext cx="8229600" cy="411480"/>
          </a:xfrm>
          <a:prstGeom prst="rect">
            <a:avLst/>
          </a:prstGeom>
          <a:noFill/>
          <a:ln/>
        </p:spPr>
        <p:txBody>
          <a:bodyPr wrap="square" rtlCol="0" anchor="ctr"/>
          <a:lstStyle/>
          <a:p>
            <a:pPr indent="0" marL="0">
              <a:buNone/>
            </a:pPr>
            <a:r>
              <a:rPr lang="en-US" sz="900" b="1" spc="250" kern="0" dirty="0">
                <a:solidFill>
                  <a:srgbClr val="FFFFFF"/>
                </a:solidFill>
                <a:latin typeface="Calibri" pitchFamily="34" charset="0"/>
                <a:ea typeface="Calibri" pitchFamily="34" charset="-122"/>
                <a:cs typeface="Calibri" pitchFamily="34" charset="-120"/>
              </a:rPr>
              <a:t>PART 3 · CANCELLATION RISK DEEP-DIVE</a:t>
            </a:r>
            <a:endParaRPr lang="en-US" sz="900" dirty="0"/>
          </a:p>
        </p:txBody>
      </p:sp>
      <p:sp>
        <p:nvSpPr>
          <p:cNvPr id="4" name="Text 2"/>
          <p:cNvSpPr/>
          <p:nvPr/>
        </p:nvSpPr>
        <p:spPr>
          <a:xfrm>
            <a:off x="457200" y="384048"/>
            <a:ext cx="8229600" cy="530352"/>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Where Revenue Leaks — and How to Plug It</a:t>
            </a:r>
            <a:endParaRPr lang="en-US" sz="2200" dirty="0"/>
          </a:p>
        </p:txBody>
      </p:sp>
      <p:graphicFrame>
        <p:nvGraphicFramePr>
          <p:cNvPr id="5" name="Chart 0" descr=""/>
          <p:cNvGraphicFramePr/>
          <p:nvPr/>
        </p:nvGraphicFramePr>
        <p:xfrm>
          <a:off x="365760" y="109728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669280" y="1097280"/>
            <a:ext cx="3108960" cy="1188720"/>
          </a:xfrm>
          <a:prstGeom prst="roundRect">
            <a:avLst>
              <a:gd name="adj" fmla="val 7692"/>
            </a:avLst>
          </a:prstGeom>
          <a:solidFill>
            <a:srgbClr val="FFF0F0"/>
          </a:solidFill>
          <a:ln w="12700">
            <a:solidFill>
              <a:srgbClr val="E05C5C"/>
            </a:solidFill>
            <a:prstDash val="solid"/>
          </a:ln>
        </p:spPr>
      </p:sp>
      <p:sp>
        <p:nvSpPr>
          <p:cNvPr id="7" name="Text 4"/>
          <p:cNvSpPr/>
          <p:nvPr/>
        </p:nvSpPr>
        <p:spPr>
          <a:xfrm>
            <a:off x="5669280" y="1170432"/>
            <a:ext cx="3108960" cy="658368"/>
          </a:xfrm>
          <a:prstGeom prst="rect">
            <a:avLst/>
          </a:prstGeom>
          <a:noFill/>
          <a:ln/>
        </p:spPr>
        <p:txBody>
          <a:bodyPr wrap="square" rtlCol="0" anchor="ctr"/>
          <a:lstStyle/>
          <a:p>
            <a:pPr algn="ctr" indent="0" marL="0">
              <a:buNone/>
            </a:pPr>
            <a:r>
              <a:rPr lang="en-US" sz="3600" b="1" dirty="0">
                <a:solidFill>
                  <a:srgbClr val="E05C5C"/>
                </a:solidFill>
                <a:latin typeface="Calibri" pitchFamily="34" charset="0"/>
                <a:ea typeface="Calibri" pitchFamily="34" charset="-122"/>
                <a:cs typeface="Calibri" pitchFamily="34" charset="-120"/>
              </a:rPr>
              <a:t>23,914</a:t>
            </a:r>
            <a:endParaRPr lang="en-US" sz="3600" dirty="0"/>
          </a:p>
        </p:txBody>
      </p:sp>
      <p:sp>
        <p:nvSpPr>
          <p:cNvPr id="8" name="Text 5"/>
          <p:cNvSpPr/>
          <p:nvPr/>
        </p:nvSpPr>
        <p:spPr>
          <a:xfrm>
            <a:off x="5669280" y="1783080"/>
            <a:ext cx="3108960" cy="365760"/>
          </a:xfrm>
          <a:prstGeom prst="rect">
            <a:avLst/>
          </a:prstGeom>
          <a:noFill/>
          <a:ln/>
        </p:spPr>
        <p:txBody>
          <a:bodyPr wrap="square" rtlCol="0" anchor="ctr"/>
          <a:lstStyle/>
          <a:p>
            <a:pPr algn="ctr" indent="0" marL="0">
              <a:buNone/>
            </a:pPr>
            <a:r>
              <a:rPr lang="en-US" sz="1000" dirty="0">
                <a:solidFill>
                  <a:srgbClr val="6B7A8D"/>
                </a:solidFill>
                <a:latin typeface="Calibri" pitchFamily="34" charset="0"/>
                <a:ea typeface="Calibri" pitchFamily="34" charset="-122"/>
                <a:cs typeface="Calibri" pitchFamily="34" charset="-120"/>
              </a:rPr>
              <a:t>Total cancellations (27.5% of all bookings)</a:t>
            </a:r>
            <a:endParaRPr lang="en-US" sz="1000" dirty="0"/>
          </a:p>
        </p:txBody>
      </p:sp>
      <p:sp>
        <p:nvSpPr>
          <p:cNvPr id="9" name="Shape 6"/>
          <p:cNvSpPr/>
          <p:nvPr/>
        </p:nvSpPr>
        <p:spPr>
          <a:xfrm>
            <a:off x="5669280" y="2395728"/>
            <a:ext cx="1463040" cy="1051560"/>
          </a:xfrm>
          <a:prstGeom prst="roundRect">
            <a:avLst>
              <a:gd name="adj" fmla="val 8696"/>
            </a:avLst>
          </a:prstGeom>
          <a:solidFill>
            <a:srgbClr val="F0F4F8"/>
          </a:solidFill>
          <a:ln w="12700">
            <a:solidFill>
              <a:srgbClr val="DCE4EF"/>
            </a:solidFill>
            <a:prstDash val="solid"/>
          </a:ln>
        </p:spPr>
      </p:sp>
      <p:sp>
        <p:nvSpPr>
          <p:cNvPr id="10" name="Text 7"/>
          <p:cNvSpPr/>
          <p:nvPr/>
        </p:nvSpPr>
        <p:spPr>
          <a:xfrm>
            <a:off x="5669280" y="2450592"/>
            <a:ext cx="1463040" cy="566928"/>
          </a:xfrm>
          <a:prstGeom prst="rect">
            <a:avLst/>
          </a:prstGeom>
          <a:noFill/>
          <a:ln/>
        </p:spPr>
        <p:txBody>
          <a:bodyPr wrap="square" rtlCol="0" anchor="ctr"/>
          <a:lstStyle/>
          <a:p>
            <a:pPr algn="ctr" indent="0" marL="0">
              <a:buNone/>
            </a:pPr>
            <a:r>
              <a:rPr lang="en-US" sz="2400" b="1" dirty="0">
                <a:solidFill>
                  <a:srgbClr val="E05C5C"/>
                </a:solidFill>
                <a:latin typeface="Calibri" pitchFamily="34" charset="0"/>
                <a:ea typeface="Calibri" pitchFamily="34" charset="-122"/>
                <a:cs typeface="Calibri" pitchFamily="34" charset="-120"/>
              </a:rPr>
              <a:t>30.1%</a:t>
            </a:r>
            <a:endParaRPr lang="en-US" sz="2400" dirty="0"/>
          </a:p>
        </p:txBody>
      </p:sp>
      <p:sp>
        <p:nvSpPr>
          <p:cNvPr id="11" name="Text 8"/>
          <p:cNvSpPr/>
          <p:nvPr/>
        </p:nvSpPr>
        <p:spPr>
          <a:xfrm>
            <a:off x="5669280" y="2999232"/>
            <a:ext cx="1463040" cy="320040"/>
          </a:xfrm>
          <a:prstGeom prst="rect">
            <a:avLst/>
          </a:prstGeom>
          <a:noFill/>
          <a:ln/>
        </p:spPr>
        <p:txBody>
          <a:bodyPr wrap="square" rtlCol="0" anchor="ctr"/>
          <a:lstStyle/>
          <a:p>
            <a:pPr algn="ctr" indent="0" marL="0">
              <a:buNone/>
            </a:pPr>
            <a:r>
              <a:rPr lang="en-US" sz="1000" dirty="0">
                <a:solidFill>
                  <a:srgbClr val="6B7A8D"/>
                </a:solidFill>
                <a:latin typeface="Calibri" pitchFamily="34" charset="0"/>
                <a:ea typeface="Calibri" pitchFamily="34" charset="-122"/>
                <a:cs typeface="Calibri" pitchFamily="34" charset="-120"/>
              </a:rPr>
              <a:t>City Hotel</a:t>
            </a:r>
            <a:endParaRPr lang="en-US" sz="1000" dirty="0"/>
          </a:p>
        </p:txBody>
      </p:sp>
      <p:sp>
        <p:nvSpPr>
          <p:cNvPr id="12" name="Shape 9"/>
          <p:cNvSpPr/>
          <p:nvPr/>
        </p:nvSpPr>
        <p:spPr>
          <a:xfrm>
            <a:off x="7315200" y="2395728"/>
            <a:ext cx="1463040" cy="1051560"/>
          </a:xfrm>
          <a:prstGeom prst="roundRect">
            <a:avLst>
              <a:gd name="adj" fmla="val 8696"/>
            </a:avLst>
          </a:prstGeom>
          <a:solidFill>
            <a:srgbClr val="F0F4F8"/>
          </a:solidFill>
          <a:ln w="12700">
            <a:solidFill>
              <a:srgbClr val="DCE4EF"/>
            </a:solidFill>
            <a:prstDash val="solid"/>
          </a:ln>
        </p:spPr>
      </p:sp>
      <p:sp>
        <p:nvSpPr>
          <p:cNvPr id="13" name="Text 10"/>
          <p:cNvSpPr/>
          <p:nvPr/>
        </p:nvSpPr>
        <p:spPr>
          <a:xfrm>
            <a:off x="7315200" y="2450592"/>
            <a:ext cx="1463040" cy="566928"/>
          </a:xfrm>
          <a:prstGeom prst="rect">
            <a:avLst/>
          </a:prstGeom>
          <a:noFill/>
          <a:ln/>
        </p:spPr>
        <p:txBody>
          <a:bodyPr wrap="square" rtlCol="0" anchor="ctr"/>
          <a:lstStyle/>
          <a:p>
            <a:pPr algn="ctr" indent="0" marL="0">
              <a:buNone/>
            </a:pPr>
            <a:r>
              <a:rPr lang="en-US" sz="2400" b="1" dirty="0">
                <a:solidFill>
                  <a:srgbClr val="E8A838"/>
                </a:solidFill>
                <a:latin typeface="Calibri" pitchFamily="34" charset="0"/>
                <a:ea typeface="Calibri" pitchFamily="34" charset="-122"/>
                <a:cs typeface="Calibri" pitchFamily="34" charset="-120"/>
              </a:rPr>
              <a:t>23.5%</a:t>
            </a:r>
            <a:endParaRPr lang="en-US" sz="2400" dirty="0"/>
          </a:p>
        </p:txBody>
      </p:sp>
      <p:sp>
        <p:nvSpPr>
          <p:cNvPr id="14" name="Text 11"/>
          <p:cNvSpPr/>
          <p:nvPr/>
        </p:nvSpPr>
        <p:spPr>
          <a:xfrm>
            <a:off x="7315200" y="2999232"/>
            <a:ext cx="1463040" cy="320040"/>
          </a:xfrm>
          <a:prstGeom prst="rect">
            <a:avLst/>
          </a:prstGeom>
          <a:noFill/>
          <a:ln/>
        </p:spPr>
        <p:txBody>
          <a:bodyPr wrap="square" rtlCol="0" anchor="ctr"/>
          <a:lstStyle/>
          <a:p>
            <a:pPr algn="ctr" indent="0" marL="0">
              <a:buNone/>
            </a:pPr>
            <a:r>
              <a:rPr lang="en-US" sz="1000" dirty="0">
                <a:solidFill>
                  <a:srgbClr val="6B7A8D"/>
                </a:solidFill>
                <a:latin typeface="Calibri" pitchFamily="34" charset="0"/>
                <a:ea typeface="Calibri" pitchFamily="34" charset="-122"/>
                <a:cs typeface="Calibri" pitchFamily="34" charset="-120"/>
              </a:rPr>
              <a:t>Resort Hotel</a:t>
            </a:r>
            <a:endParaRPr lang="en-US" sz="1000" dirty="0"/>
          </a:p>
        </p:txBody>
      </p:sp>
      <p:sp>
        <p:nvSpPr>
          <p:cNvPr id="15" name="Shape 12"/>
          <p:cNvSpPr/>
          <p:nvPr/>
        </p:nvSpPr>
        <p:spPr>
          <a:xfrm>
            <a:off x="5669280" y="3547872"/>
            <a:ext cx="3108960" cy="1234440"/>
          </a:xfrm>
          <a:prstGeom prst="roundRect">
            <a:avLst>
              <a:gd name="adj" fmla="val 7407"/>
            </a:avLst>
          </a:prstGeom>
          <a:solidFill>
            <a:srgbClr val="F0FBF7"/>
          </a:solidFill>
          <a:ln w="12700">
            <a:solidFill>
              <a:srgbClr val="3BAB7A"/>
            </a:solidFill>
            <a:prstDash val="solid"/>
          </a:ln>
        </p:spPr>
      </p:sp>
      <p:sp>
        <p:nvSpPr>
          <p:cNvPr id="16" name="Text 13"/>
          <p:cNvSpPr/>
          <p:nvPr/>
        </p:nvSpPr>
        <p:spPr>
          <a:xfrm>
            <a:off x="5760720" y="3584448"/>
            <a:ext cx="2926080" cy="320040"/>
          </a:xfrm>
          <a:prstGeom prst="rect">
            <a:avLst/>
          </a:prstGeom>
          <a:noFill/>
          <a:ln/>
        </p:spPr>
        <p:txBody>
          <a:bodyPr wrap="square" rtlCol="0" anchor="ctr"/>
          <a:lstStyle/>
          <a:p>
            <a:pPr indent="0" marL="0">
              <a:buNone/>
            </a:pPr>
            <a:r>
              <a:rPr lang="en-US" sz="1100" b="1" dirty="0">
                <a:solidFill>
                  <a:srgbClr val="1B3A5C"/>
                </a:solidFill>
                <a:latin typeface="Cambria" pitchFamily="34" charset="0"/>
                <a:ea typeface="Cambria" pitchFamily="34" charset="-122"/>
                <a:cs typeface="Cambria" pitchFamily="34" charset="-120"/>
              </a:rPr>
              <a:t>Deposit Policy Gap</a:t>
            </a:r>
            <a:endParaRPr lang="en-US" sz="1100" dirty="0"/>
          </a:p>
        </p:txBody>
      </p:sp>
      <p:sp>
        <p:nvSpPr>
          <p:cNvPr id="17" name="Text 14"/>
          <p:cNvSpPr/>
          <p:nvPr/>
        </p:nvSpPr>
        <p:spPr>
          <a:xfrm>
            <a:off x="5760720" y="3886200"/>
            <a:ext cx="2926080" cy="822960"/>
          </a:xfrm>
          <a:prstGeom prst="rect">
            <a:avLst/>
          </a:prstGeom>
          <a:noFill/>
          <a:ln/>
        </p:spPr>
        <p:txBody>
          <a:bodyPr wrap="square" rtlCol="0" anchor="ctr"/>
          <a:lstStyle/>
          <a:p>
            <a:pPr indent="0" marL="0">
              <a:buNone/>
            </a:pPr>
            <a:r>
              <a:rPr lang="en-US" sz="950" dirty="0">
                <a:solidFill>
                  <a:srgbClr val="6B7A8D"/>
                </a:solidFill>
                <a:latin typeface="Calibri" pitchFamily="34" charset="0"/>
                <a:ea typeface="Calibri" pitchFamily="34" charset="-122"/>
                <a:cs typeface="Calibri" pitchFamily="34" charset="-120"/>
              </a:rPr>
              <a:t>98.7% of bookings carry NO deposit. Introducing partial deposits or non-refundable rates for OTA bookings could reduce cancellations significantly.</a:t>
            </a:r>
            <a:endParaRPr lang="en-US" sz="950" dirty="0"/>
          </a:p>
        </p:txBody>
      </p:sp>
      <p:sp>
        <p:nvSpPr>
          <p:cNvPr id="18" name="Shape 15"/>
          <p:cNvSpPr/>
          <p:nvPr/>
        </p:nvSpPr>
        <p:spPr>
          <a:xfrm>
            <a:off x="365760" y="3977640"/>
            <a:ext cx="5029200" cy="502920"/>
          </a:xfrm>
          <a:prstGeom prst="roundRect">
            <a:avLst>
              <a:gd name="adj" fmla="val 12727"/>
            </a:avLst>
          </a:prstGeom>
          <a:solidFill>
            <a:srgbClr val="FFF8E6"/>
          </a:solidFill>
          <a:ln w="12700">
            <a:solidFill>
              <a:srgbClr val="E8A838"/>
            </a:solidFill>
            <a:prstDash val="solid"/>
          </a:ln>
        </p:spPr>
      </p:sp>
      <p:sp>
        <p:nvSpPr>
          <p:cNvPr id="19" name="Text 16"/>
          <p:cNvSpPr/>
          <p:nvPr/>
        </p:nvSpPr>
        <p:spPr>
          <a:xfrm>
            <a:off x="457200" y="4005072"/>
            <a:ext cx="4846320" cy="438912"/>
          </a:xfrm>
          <a:prstGeom prst="rect">
            <a:avLst/>
          </a:prstGeom>
          <a:noFill/>
          <a:ln/>
        </p:spPr>
        <p:txBody>
          <a:bodyPr wrap="square" rtlCol="0" anchor="ctr"/>
          <a:lstStyle/>
          <a:p>
            <a:pPr indent="0" marL="0">
              <a:buNone/>
            </a:pPr>
            <a:r>
              <a:rPr lang="en-US" sz="1000" dirty="0">
                <a:solidFill>
                  <a:srgbClr val="1B3A5C"/>
                </a:solidFill>
                <a:latin typeface="Calibri" pitchFamily="34" charset="0"/>
                <a:ea typeface="Calibri" pitchFamily="34" charset="-122"/>
                <a:cs typeface="Calibri" pitchFamily="34" charset="-120"/>
              </a:rPr>
              <a:t>💡  Online TA cancels at 35.4% vs Direct 14.7% — shifting 10% of mix to direct could recover ~1,200 net bookings/year.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Statistical Validation</a:t>
            </a:r>
            <a:endParaRPr lang="en-US" sz="3000" dirty="0"/>
          </a:p>
        </p:txBody>
      </p:sp>
      <p:sp>
        <p:nvSpPr>
          <p:cNvPr id="3" name="Text 1"/>
          <p:cNvSpPr/>
          <p:nvPr/>
        </p:nvSpPr>
        <p:spPr>
          <a:xfrm>
            <a:off x="457200" y="804672"/>
            <a:ext cx="8229600" cy="320040"/>
          </a:xfrm>
          <a:prstGeom prst="rect">
            <a:avLst/>
          </a:prstGeom>
          <a:noFill/>
          <a:ln/>
        </p:spPr>
        <p:txBody>
          <a:bodyPr wrap="square" rtlCol="0" anchor="ctr"/>
          <a:lstStyle/>
          <a:p>
            <a:pPr indent="0" marL="0">
              <a:buNone/>
            </a:pPr>
            <a:r>
              <a:rPr lang="en-US" sz="1200" dirty="0">
                <a:solidFill>
                  <a:srgbClr val="6B7A8D"/>
                </a:solidFill>
                <a:latin typeface="Calibri" pitchFamily="34" charset="0"/>
                <a:ea typeface="Calibri" pitchFamily="34" charset="-122"/>
                <a:cs typeface="Calibri" pitchFamily="34" charset="-120"/>
              </a:rPr>
              <a:t>Two-Sample Z-Test for Proportions · Cancellation Rate: City Hotel vs Resort Hotel</a:t>
            </a:r>
            <a:endParaRPr lang="en-US" sz="1200" dirty="0"/>
          </a:p>
        </p:txBody>
      </p:sp>
      <p:sp>
        <p:nvSpPr>
          <p:cNvPr id="4" name="Shape 2"/>
          <p:cNvSpPr/>
          <p:nvPr/>
        </p:nvSpPr>
        <p:spPr>
          <a:xfrm>
            <a:off x="365760" y="1207008"/>
            <a:ext cx="8412480" cy="658368"/>
          </a:xfrm>
          <a:prstGeom prst="roundRect">
            <a:avLst>
              <a:gd name="adj" fmla="val 13889"/>
            </a:avLst>
          </a:prstGeom>
          <a:solidFill>
            <a:srgbClr val="FFFFFF"/>
          </a:solidFill>
          <a:ln w="19050">
            <a:solidFill>
              <a:srgbClr val="2E86AB"/>
            </a:solidFill>
            <a:prstDash val="solid"/>
          </a:ln>
        </p:spPr>
      </p:sp>
      <p:sp>
        <p:nvSpPr>
          <p:cNvPr id="5" name="Text 3"/>
          <p:cNvSpPr/>
          <p:nvPr/>
        </p:nvSpPr>
        <p:spPr>
          <a:xfrm>
            <a:off x="548640" y="1261872"/>
            <a:ext cx="2011680" cy="548640"/>
          </a:xfrm>
          <a:prstGeom prst="rect">
            <a:avLst/>
          </a:prstGeom>
          <a:noFill/>
          <a:ln/>
        </p:spPr>
        <p:txBody>
          <a:bodyPr wrap="square" rtlCol="0" anchor="ctr"/>
          <a:lstStyle/>
          <a:p>
            <a:pPr indent="0" marL="0">
              <a:buNone/>
            </a:pPr>
            <a:r>
              <a:rPr lang="en-US" sz="1000" b="1" dirty="0">
                <a:solidFill>
                  <a:srgbClr val="2E86AB"/>
                </a:solidFill>
                <a:latin typeface="Calibri" pitchFamily="34" charset="0"/>
                <a:ea typeface="Calibri" pitchFamily="34" charset="-122"/>
                <a:cs typeface="Calibri" pitchFamily="34" charset="-120"/>
              </a:rPr>
              <a:t>H₀  (Null Hypothesis)</a:t>
            </a:r>
            <a:endParaRPr lang="en-US" sz="1000" dirty="0"/>
          </a:p>
        </p:txBody>
      </p:sp>
      <p:sp>
        <p:nvSpPr>
          <p:cNvPr id="6" name="Text 4"/>
          <p:cNvSpPr/>
          <p:nvPr/>
        </p:nvSpPr>
        <p:spPr>
          <a:xfrm>
            <a:off x="2651760" y="1261872"/>
            <a:ext cx="5943600" cy="548640"/>
          </a:xfrm>
          <a:prstGeom prst="rect">
            <a:avLst/>
          </a:prstGeom>
          <a:noFill/>
          <a:ln/>
        </p:spPr>
        <p:txBody>
          <a:bodyPr wrap="square" rtlCol="0" anchor="ctr"/>
          <a:lstStyle/>
          <a:p>
            <a:pPr indent="0" marL="0">
              <a:buNone/>
            </a:pPr>
            <a:r>
              <a:rPr lang="en-US" sz="1150" dirty="0">
                <a:solidFill>
                  <a:srgbClr val="1B3A5C"/>
                </a:solidFill>
                <a:latin typeface="Calibri" pitchFamily="34" charset="0"/>
                <a:ea typeface="Calibri" pitchFamily="34" charset="-122"/>
                <a:cs typeface="Calibri" pitchFamily="34" charset="-120"/>
              </a:rPr>
              <a:t>There is NO statistically significant difference in cancellation rates between City Hotel and Resort Hotel.</a:t>
            </a:r>
            <a:endParaRPr lang="en-US" sz="1150" dirty="0"/>
          </a:p>
        </p:txBody>
      </p:sp>
      <p:sp>
        <p:nvSpPr>
          <p:cNvPr id="7" name="Shape 5"/>
          <p:cNvSpPr/>
          <p:nvPr/>
        </p:nvSpPr>
        <p:spPr>
          <a:xfrm>
            <a:off x="365760" y="1956816"/>
            <a:ext cx="8412480" cy="658368"/>
          </a:xfrm>
          <a:prstGeom prst="roundRect">
            <a:avLst>
              <a:gd name="adj" fmla="val 13889"/>
            </a:avLst>
          </a:prstGeom>
          <a:solidFill>
            <a:srgbClr val="FFFFFF"/>
          </a:solidFill>
          <a:ln w="19050">
            <a:solidFill>
              <a:srgbClr val="E05C5C"/>
            </a:solidFill>
            <a:prstDash val="solid"/>
          </a:ln>
        </p:spPr>
      </p:sp>
      <p:sp>
        <p:nvSpPr>
          <p:cNvPr id="8" name="Text 6"/>
          <p:cNvSpPr/>
          <p:nvPr/>
        </p:nvSpPr>
        <p:spPr>
          <a:xfrm>
            <a:off x="548640" y="2011680"/>
            <a:ext cx="2011680" cy="548640"/>
          </a:xfrm>
          <a:prstGeom prst="rect">
            <a:avLst/>
          </a:prstGeom>
          <a:noFill/>
          <a:ln/>
        </p:spPr>
        <p:txBody>
          <a:bodyPr wrap="square" rtlCol="0" anchor="ctr"/>
          <a:lstStyle/>
          <a:p>
            <a:pPr indent="0" marL="0">
              <a:buNone/>
            </a:pPr>
            <a:r>
              <a:rPr lang="en-US" sz="1000" b="1" dirty="0">
                <a:solidFill>
                  <a:srgbClr val="E05C5C"/>
                </a:solidFill>
                <a:latin typeface="Calibri" pitchFamily="34" charset="0"/>
                <a:ea typeface="Calibri" pitchFamily="34" charset="-122"/>
                <a:cs typeface="Calibri" pitchFamily="34" charset="-120"/>
              </a:rPr>
              <a:t>H₁  (Alternative Hypothesis)</a:t>
            </a:r>
            <a:endParaRPr lang="en-US" sz="1000" dirty="0"/>
          </a:p>
        </p:txBody>
      </p:sp>
      <p:sp>
        <p:nvSpPr>
          <p:cNvPr id="9" name="Text 7"/>
          <p:cNvSpPr/>
          <p:nvPr/>
        </p:nvSpPr>
        <p:spPr>
          <a:xfrm>
            <a:off x="2651760" y="2011680"/>
            <a:ext cx="5943600" cy="548640"/>
          </a:xfrm>
          <a:prstGeom prst="rect">
            <a:avLst/>
          </a:prstGeom>
          <a:noFill/>
          <a:ln/>
        </p:spPr>
        <p:txBody>
          <a:bodyPr wrap="square" rtlCol="0" anchor="ctr"/>
          <a:lstStyle/>
          <a:p>
            <a:pPr indent="0" marL="0">
              <a:buNone/>
            </a:pPr>
            <a:r>
              <a:rPr lang="en-US" sz="1150" dirty="0">
                <a:solidFill>
                  <a:srgbClr val="1B3A5C"/>
                </a:solidFill>
                <a:latin typeface="Calibri" pitchFamily="34" charset="0"/>
                <a:ea typeface="Calibri" pitchFamily="34" charset="-122"/>
                <a:cs typeface="Calibri" pitchFamily="34" charset="-120"/>
              </a:rPr>
              <a:t>City Hotel has a SIGNIFICANTLY HIGHER cancellation rate than Resort Hotel (one-tailed, p &lt; 0.05).</a:t>
            </a:r>
            <a:endParaRPr lang="en-US" sz="1150" dirty="0"/>
          </a:p>
        </p:txBody>
      </p:sp>
      <p:sp>
        <p:nvSpPr>
          <p:cNvPr id="10" name="Shape 8"/>
          <p:cNvSpPr/>
          <p:nvPr/>
        </p:nvSpPr>
        <p:spPr>
          <a:xfrm>
            <a:off x="365760" y="278892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1" name="Text 9"/>
          <p:cNvSpPr/>
          <p:nvPr/>
        </p:nvSpPr>
        <p:spPr>
          <a:xfrm>
            <a:off x="457200" y="286207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Test</a:t>
            </a:r>
            <a:endParaRPr lang="en-US" sz="900" dirty="0"/>
          </a:p>
        </p:txBody>
      </p:sp>
      <p:sp>
        <p:nvSpPr>
          <p:cNvPr id="12" name="Text 10"/>
          <p:cNvSpPr/>
          <p:nvPr/>
        </p:nvSpPr>
        <p:spPr>
          <a:xfrm>
            <a:off x="457200" y="3136392"/>
            <a:ext cx="1828800" cy="475488"/>
          </a:xfrm>
          <a:prstGeom prst="rect">
            <a:avLst/>
          </a:prstGeom>
          <a:noFill/>
          <a:ln/>
        </p:spPr>
        <p:txBody>
          <a:bodyPr wrap="square" rtlCol="0" anchor="ctr"/>
          <a:lstStyle/>
          <a:p>
            <a:pPr indent="0" marL="0">
              <a:buNone/>
            </a:pPr>
            <a:r>
              <a:rPr lang="en-US" sz="1150" b="1" dirty="0">
                <a:solidFill>
                  <a:srgbClr val="2E86AB"/>
                </a:solidFill>
                <a:latin typeface="Calibri" pitchFamily="34" charset="0"/>
                <a:ea typeface="Calibri" pitchFamily="34" charset="-122"/>
                <a:cs typeface="Calibri" pitchFamily="34" charset="-120"/>
              </a:rPr>
              <a:t>Two-Sample Z-test for Proportions</a:t>
            </a:r>
            <a:endParaRPr lang="en-US" sz="1150" dirty="0"/>
          </a:p>
        </p:txBody>
      </p:sp>
      <p:sp>
        <p:nvSpPr>
          <p:cNvPr id="13" name="Shape 11"/>
          <p:cNvSpPr/>
          <p:nvPr/>
        </p:nvSpPr>
        <p:spPr>
          <a:xfrm>
            <a:off x="2514600" y="278892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4" name="Text 12"/>
          <p:cNvSpPr/>
          <p:nvPr/>
        </p:nvSpPr>
        <p:spPr>
          <a:xfrm>
            <a:off x="2606040" y="286207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City Cancel %</a:t>
            </a:r>
            <a:endParaRPr lang="en-US" sz="900" dirty="0"/>
          </a:p>
        </p:txBody>
      </p:sp>
      <p:sp>
        <p:nvSpPr>
          <p:cNvPr id="15" name="Text 13"/>
          <p:cNvSpPr/>
          <p:nvPr/>
        </p:nvSpPr>
        <p:spPr>
          <a:xfrm>
            <a:off x="2606040" y="3136392"/>
            <a:ext cx="1828800" cy="475488"/>
          </a:xfrm>
          <a:prstGeom prst="rect">
            <a:avLst/>
          </a:prstGeom>
          <a:noFill/>
          <a:ln/>
        </p:spPr>
        <p:txBody>
          <a:bodyPr wrap="square" rtlCol="0" anchor="ctr"/>
          <a:lstStyle/>
          <a:p>
            <a:pPr indent="0" marL="0">
              <a:buNone/>
            </a:pPr>
            <a:r>
              <a:rPr lang="en-US" sz="1150" b="1" dirty="0">
                <a:solidFill>
                  <a:srgbClr val="E05C5C"/>
                </a:solidFill>
                <a:latin typeface="Calibri" pitchFamily="34" charset="0"/>
                <a:ea typeface="Calibri" pitchFamily="34" charset="-122"/>
                <a:cs typeface="Calibri" pitchFamily="34" charset="-120"/>
              </a:rPr>
              <a:t>30.1% (n = 53,051)</a:t>
            </a:r>
            <a:endParaRPr lang="en-US" sz="1150" dirty="0"/>
          </a:p>
        </p:txBody>
      </p:sp>
      <p:sp>
        <p:nvSpPr>
          <p:cNvPr id="16" name="Shape 14"/>
          <p:cNvSpPr/>
          <p:nvPr/>
        </p:nvSpPr>
        <p:spPr>
          <a:xfrm>
            <a:off x="4663440" y="278892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7" name="Text 15"/>
          <p:cNvSpPr/>
          <p:nvPr/>
        </p:nvSpPr>
        <p:spPr>
          <a:xfrm>
            <a:off x="4754880" y="286207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Resort Cancel %</a:t>
            </a:r>
            <a:endParaRPr lang="en-US" sz="900" dirty="0"/>
          </a:p>
        </p:txBody>
      </p:sp>
      <p:sp>
        <p:nvSpPr>
          <p:cNvPr id="18" name="Text 16"/>
          <p:cNvSpPr/>
          <p:nvPr/>
        </p:nvSpPr>
        <p:spPr>
          <a:xfrm>
            <a:off x="4754880" y="3136392"/>
            <a:ext cx="1828800" cy="475488"/>
          </a:xfrm>
          <a:prstGeom prst="rect">
            <a:avLst/>
          </a:prstGeom>
          <a:noFill/>
          <a:ln/>
        </p:spPr>
        <p:txBody>
          <a:bodyPr wrap="square" rtlCol="0" anchor="ctr"/>
          <a:lstStyle/>
          <a:p>
            <a:pPr indent="0" marL="0">
              <a:buNone/>
            </a:pPr>
            <a:r>
              <a:rPr lang="en-US" sz="1150" b="1" dirty="0">
                <a:solidFill>
                  <a:srgbClr val="E8A838"/>
                </a:solidFill>
                <a:latin typeface="Calibri" pitchFamily="34" charset="0"/>
                <a:ea typeface="Calibri" pitchFamily="34" charset="-122"/>
                <a:cs typeface="Calibri" pitchFamily="34" charset="-120"/>
              </a:rPr>
              <a:t>23.5% (n = 33,919)</a:t>
            </a:r>
            <a:endParaRPr lang="en-US" sz="1150" dirty="0"/>
          </a:p>
        </p:txBody>
      </p:sp>
      <p:sp>
        <p:nvSpPr>
          <p:cNvPr id="19" name="Shape 17"/>
          <p:cNvSpPr/>
          <p:nvPr/>
        </p:nvSpPr>
        <p:spPr>
          <a:xfrm>
            <a:off x="6812280" y="278892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20" name="Text 18"/>
          <p:cNvSpPr/>
          <p:nvPr/>
        </p:nvSpPr>
        <p:spPr>
          <a:xfrm>
            <a:off x="6903720" y="286207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Difference</a:t>
            </a:r>
            <a:endParaRPr lang="en-US" sz="900" dirty="0"/>
          </a:p>
        </p:txBody>
      </p:sp>
      <p:sp>
        <p:nvSpPr>
          <p:cNvPr id="21" name="Text 19"/>
          <p:cNvSpPr/>
          <p:nvPr/>
        </p:nvSpPr>
        <p:spPr>
          <a:xfrm>
            <a:off x="6903720" y="3136392"/>
            <a:ext cx="1828800" cy="47548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6.6 percentage points</a:t>
            </a:r>
            <a:endParaRPr lang="en-US" sz="1150" dirty="0"/>
          </a:p>
        </p:txBody>
      </p:sp>
      <p:sp>
        <p:nvSpPr>
          <p:cNvPr id="22" name="Shape 20"/>
          <p:cNvSpPr/>
          <p:nvPr/>
        </p:nvSpPr>
        <p:spPr>
          <a:xfrm>
            <a:off x="365760" y="374904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23" name="Text 21"/>
          <p:cNvSpPr/>
          <p:nvPr/>
        </p:nvSpPr>
        <p:spPr>
          <a:xfrm>
            <a:off x="457200" y="382219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Z-statistic</a:t>
            </a:r>
            <a:endParaRPr lang="en-US" sz="900" dirty="0"/>
          </a:p>
        </p:txBody>
      </p:sp>
      <p:sp>
        <p:nvSpPr>
          <p:cNvPr id="24" name="Text 22"/>
          <p:cNvSpPr/>
          <p:nvPr/>
        </p:nvSpPr>
        <p:spPr>
          <a:xfrm>
            <a:off x="457200" y="4096512"/>
            <a:ext cx="1828800" cy="47548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 19.8</a:t>
            </a:r>
            <a:endParaRPr lang="en-US" sz="1150" dirty="0"/>
          </a:p>
        </p:txBody>
      </p:sp>
      <p:sp>
        <p:nvSpPr>
          <p:cNvPr id="25" name="Shape 23"/>
          <p:cNvSpPr/>
          <p:nvPr/>
        </p:nvSpPr>
        <p:spPr>
          <a:xfrm>
            <a:off x="2514600" y="374904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26" name="Text 24"/>
          <p:cNvSpPr/>
          <p:nvPr/>
        </p:nvSpPr>
        <p:spPr>
          <a:xfrm>
            <a:off x="2606040" y="382219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p-value</a:t>
            </a:r>
            <a:endParaRPr lang="en-US" sz="900" dirty="0"/>
          </a:p>
        </p:txBody>
      </p:sp>
      <p:sp>
        <p:nvSpPr>
          <p:cNvPr id="27" name="Text 25"/>
          <p:cNvSpPr/>
          <p:nvPr/>
        </p:nvSpPr>
        <p:spPr>
          <a:xfrm>
            <a:off x="2606040" y="4096512"/>
            <a:ext cx="1828800" cy="475488"/>
          </a:xfrm>
          <a:prstGeom prst="rect">
            <a:avLst/>
          </a:prstGeom>
          <a:noFill/>
          <a:ln/>
        </p:spPr>
        <p:txBody>
          <a:bodyPr wrap="square" rtlCol="0" anchor="ctr"/>
          <a:lstStyle/>
          <a:p>
            <a:pPr indent="0" marL="0">
              <a:buNone/>
            </a:pPr>
            <a:r>
              <a:rPr lang="en-US" sz="1150" b="1" dirty="0">
                <a:solidFill>
                  <a:srgbClr val="E05C5C"/>
                </a:solidFill>
                <a:latin typeface="Calibri" pitchFamily="34" charset="0"/>
                <a:ea typeface="Calibri" pitchFamily="34" charset="-122"/>
                <a:cs typeface="Calibri" pitchFamily="34" charset="-120"/>
              </a:rPr>
              <a:t>&lt; 0.0001</a:t>
            </a:r>
            <a:endParaRPr lang="en-US" sz="1150" dirty="0"/>
          </a:p>
        </p:txBody>
      </p:sp>
      <p:sp>
        <p:nvSpPr>
          <p:cNvPr id="28" name="Shape 26"/>
          <p:cNvSpPr/>
          <p:nvPr/>
        </p:nvSpPr>
        <p:spPr>
          <a:xfrm>
            <a:off x="4663440" y="374904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29" name="Text 27"/>
          <p:cNvSpPr/>
          <p:nvPr/>
        </p:nvSpPr>
        <p:spPr>
          <a:xfrm>
            <a:off x="4754880" y="382219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95% CI</a:t>
            </a:r>
            <a:endParaRPr lang="en-US" sz="900" dirty="0"/>
          </a:p>
        </p:txBody>
      </p:sp>
      <p:sp>
        <p:nvSpPr>
          <p:cNvPr id="30" name="Text 28"/>
          <p:cNvSpPr/>
          <p:nvPr/>
        </p:nvSpPr>
        <p:spPr>
          <a:xfrm>
            <a:off x="4754880" y="4096512"/>
            <a:ext cx="1828800" cy="475488"/>
          </a:xfrm>
          <a:prstGeom prst="rect">
            <a:avLst/>
          </a:prstGeom>
          <a:noFill/>
          <a:ln/>
        </p:spPr>
        <p:txBody>
          <a:bodyPr wrap="square" rtlCol="0" anchor="ctr"/>
          <a:lstStyle/>
          <a:p>
            <a:pPr indent="0" marL="0">
              <a:buNone/>
            </a:pPr>
            <a:r>
              <a:rPr lang="en-US" sz="1150" b="1" dirty="0">
                <a:solidFill>
                  <a:srgbClr val="3BAB7A"/>
                </a:solidFill>
                <a:latin typeface="Calibri" pitchFamily="34" charset="0"/>
                <a:ea typeface="Calibri" pitchFamily="34" charset="-122"/>
                <a:cs typeface="Calibri" pitchFamily="34" charset="-120"/>
              </a:rPr>
              <a:t>[5.9%, 7.3%]</a:t>
            </a:r>
            <a:endParaRPr lang="en-US" sz="1150" dirty="0"/>
          </a:p>
        </p:txBody>
      </p:sp>
      <p:sp>
        <p:nvSpPr>
          <p:cNvPr id="31" name="Shape 29"/>
          <p:cNvSpPr/>
          <p:nvPr/>
        </p:nvSpPr>
        <p:spPr>
          <a:xfrm>
            <a:off x="6812280" y="3749040"/>
            <a:ext cx="2029968" cy="960120"/>
          </a:xfrm>
          <a:prstGeom prst="roundRect">
            <a:avLst>
              <a:gd name="adj" fmla="val 7619"/>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6903720" y="3822192"/>
            <a:ext cx="1828800" cy="274320"/>
          </a:xfrm>
          <a:prstGeom prst="rect">
            <a:avLst/>
          </a:prstGeom>
          <a:noFill/>
          <a:ln/>
        </p:spPr>
        <p:txBody>
          <a:bodyPr wrap="square" rtlCol="0" anchor="ctr"/>
          <a:lstStyle/>
          <a:p>
            <a:pPr indent="0" marL="0">
              <a:buNone/>
            </a:pPr>
            <a:r>
              <a:rPr lang="en-US" sz="900" b="1" dirty="0">
                <a:solidFill>
                  <a:srgbClr val="6B7A8D"/>
                </a:solidFill>
                <a:latin typeface="Calibri" pitchFamily="34" charset="0"/>
                <a:ea typeface="Calibri" pitchFamily="34" charset="-122"/>
                <a:cs typeface="Calibri" pitchFamily="34" charset="-120"/>
              </a:rPr>
              <a:t>Conclusion</a:t>
            </a:r>
            <a:endParaRPr lang="en-US" sz="900" dirty="0"/>
          </a:p>
        </p:txBody>
      </p:sp>
      <p:sp>
        <p:nvSpPr>
          <p:cNvPr id="33" name="Text 31"/>
          <p:cNvSpPr/>
          <p:nvPr/>
        </p:nvSpPr>
        <p:spPr>
          <a:xfrm>
            <a:off x="6903720" y="4096512"/>
            <a:ext cx="1828800" cy="475488"/>
          </a:xfrm>
          <a:prstGeom prst="rect">
            <a:avLst/>
          </a:prstGeom>
          <a:noFill/>
          <a:ln/>
        </p:spPr>
        <p:txBody>
          <a:bodyPr wrap="square" rtlCol="0" anchor="ctr"/>
          <a:lstStyle/>
          <a:p>
            <a:pPr indent="0" marL="0">
              <a:buNone/>
            </a:pPr>
            <a:r>
              <a:rPr lang="en-US" sz="1150" b="1" dirty="0">
                <a:solidFill>
                  <a:srgbClr val="3BAB7A"/>
                </a:solidFill>
                <a:latin typeface="Calibri" pitchFamily="34" charset="0"/>
                <a:ea typeface="Calibri" pitchFamily="34" charset="-122"/>
                <a:cs typeface="Calibri" pitchFamily="34" charset="-120"/>
              </a:rPr>
              <a:t>REJECT H₀ — Highly Significant</a:t>
            </a:r>
            <a:endParaRPr lang="en-US" sz="1150" dirty="0"/>
          </a:p>
        </p:txBody>
      </p:sp>
      <p:sp>
        <p:nvSpPr>
          <p:cNvPr id="34" name="Shape 32"/>
          <p:cNvSpPr/>
          <p:nvPr/>
        </p:nvSpPr>
        <p:spPr>
          <a:xfrm>
            <a:off x="365760" y="4709160"/>
            <a:ext cx="8412480" cy="347472"/>
          </a:xfrm>
          <a:prstGeom prst="roundRect">
            <a:avLst>
              <a:gd name="adj" fmla="val 18421"/>
            </a:avLst>
          </a:prstGeom>
          <a:solidFill>
            <a:srgbClr val="3BAB7A">
              <a:alpha val="15000"/>
            </a:srgbClr>
          </a:solidFill>
          <a:ln w="12700">
            <a:solidFill>
              <a:srgbClr val="3BAB7A"/>
            </a:solidFill>
            <a:prstDash val="solid"/>
          </a:ln>
        </p:spPr>
      </p:sp>
      <p:sp>
        <p:nvSpPr>
          <p:cNvPr id="35" name="Text 33"/>
          <p:cNvSpPr/>
          <p:nvPr/>
        </p:nvSpPr>
        <p:spPr>
          <a:xfrm>
            <a:off x="502920" y="4709160"/>
            <a:ext cx="8229600" cy="347472"/>
          </a:xfrm>
          <a:prstGeom prst="rect">
            <a:avLst/>
          </a:prstGeom>
          <a:noFill/>
          <a:ln/>
        </p:spPr>
        <p:txBody>
          <a:bodyPr wrap="square" rtlCol="0" anchor="ctr"/>
          <a:lstStyle/>
          <a:p>
            <a:pPr indent="0" marL="0">
              <a:buNone/>
            </a:pPr>
            <a:r>
              <a:rPr lang="en-US" sz="1000" dirty="0">
                <a:solidFill>
                  <a:srgbClr val="1B3A5C"/>
                </a:solidFill>
                <a:latin typeface="Calibri" pitchFamily="34" charset="0"/>
                <a:ea typeface="Calibri" pitchFamily="34" charset="-122"/>
                <a:cs typeface="Calibri" pitchFamily="34" charset="-120"/>
              </a:rPr>
              <a:t>✅  Business Conclusion: City Hotel's cancellation rate is statistically 6.6 pp higher than Resort's (p &lt; 0.0001). Targeted retention policies for City Hotel are statistically justified.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5C"/>
          </a:solidFill>
          <a:ln w="12700">
            <a:solidFill>
              <a:srgbClr val="1B3A5C"/>
            </a:solidFill>
            <a:prstDash val="solid"/>
          </a:ln>
        </p:spPr>
      </p:sp>
      <p:sp>
        <p:nvSpPr>
          <p:cNvPr id="3" name="Text 1"/>
          <p:cNvSpPr/>
          <p:nvPr/>
        </p:nvSpPr>
        <p:spPr>
          <a:xfrm>
            <a:off x="457200" y="0"/>
            <a:ext cx="8229600" cy="411480"/>
          </a:xfrm>
          <a:prstGeom prst="rect">
            <a:avLst/>
          </a:prstGeom>
          <a:noFill/>
          <a:ln/>
        </p:spPr>
        <p:txBody>
          <a:bodyPr wrap="square" rtlCol="0" anchor="ctr"/>
          <a:lstStyle/>
          <a:p>
            <a:pPr indent="0" marL="0">
              <a:buNone/>
            </a:pPr>
            <a:r>
              <a:rPr lang="en-US" sz="900" b="1" spc="250" kern="0" dirty="0">
                <a:solidFill>
                  <a:srgbClr val="4FB3D9"/>
                </a:solidFill>
                <a:latin typeface="Calibri" pitchFamily="34" charset="0"/>
                <a:ea typeface="Calibri" pitchFamily="34" charset="-122"/>
                <a:cs typeface="Calibri" pitchFamily="34" charset="-120"/>
              </a:rPr>
              <a:t>MARKET INTELLIGENCE · SEGMENTS &amp; GEOGRAPHY</a:t>
            </a:r>
            <a:endParaRPr lang="en-US" sz="900" dirty="0"/>
          </a:p>
        </p:txBody>
      </p:sp>
      <p:sp>
        <p:nvSpPr>
          <p:cNvPr id="4" name="Text 2"/>
          <p:cNvSpPr/>
          <p:nvPr/>
        </p:nvSpPr>
        <p:spPr>
          <a:xfrm>
            <a:off x="457200" y="384048"/>
            <a:ext cx="8229600" cy="530352"/>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Who Books, How, and From Where</a:t>
            </a:r>
            <a:endParaRPr lang="en-US" sz="2200" dirty="0"/>
          </a:p>
        </p:txBody>
      </p:sp>
      <p:graphicFrame>
        <p:nvGraphicFramePr>
          <p:cNvPr id="5" name="Chart 0" descr=""/>
          <p:cNvGraphicFramePr/>
          <p:nvPr/>
        </p:nvGraphicFramePr>
        <p:xfrm>
          <a:off x="274320" y="1097280"/>
          <a:ext cx="384048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389120" y="1097280"/>
          <a:ext cx="4480560" cy="292608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274320" y="4160520"/>
            <a:ext cx="2834640" cy="777240"/>
          </a:xfrm>
          <a:prstGeom prst="roundRect">
            <a:avLst>
              <a:gd name="adj" fmla="val 9412"/>
            </a:avLst>
          </a:prstGeom>
          <a:solidFill>
            <a:srgbClr val="F0F4F8"/>
          </a:solidFill>
          <a:ln w="12700">
            <a:solidFill>
              <a:srgbClr val="E05C5C"/>
            </a:solidFill>
            <a:prstDash val="solid"/>
          </a:ln>
        </p:spPr>
      </p:sp>
      <p:sp>
        <p:nvSpPr>
          <p:cNvPr id="8" name="Text 4"/>
          <p:cNvSpPr/>
          <p:nvPr/>
        </p:nvSpPr>
        <p:spPr>
          <a:xfrm>
            <a:off x="411480" y="4206240"/>
            <a:ext cx="2578608" cy="685800"/>
          </a:xfrm>
          <a:prstGeom prst="rect">
            <a:avLst/>
          </a:prstGeom>
          <a:noFill/>
          <a:ln/>
        </p:spPr>
        <p:txBody>
          <a:bodyPr wrap="square" rtlCol="0" anchor="ctr"/>
          <a:lstStyle/>
          <a:p>
            <a:pPr indent="0" marL="0">
              <a:buNone/>
            </a:pPr>
            <a:r>
              <a:rPr lang="en-US" sz="1000" dirty="0">
                <a:solidFill>
                  <a:srgbClr val="1B3A5C"/>
                </a:solidFill>
                <a:latin typeface="Calibri" pitchFamily="34" charset="0"/>
                <a:ea typeface="Calibri" pitchFamily="34" charset="-122"/>
                <a:cs typeface="Calibri" pitchFamily="34" charset="-120"/>
              </a:rPr>
              <a:t>Online TA = 59% of bookings but highest cancel rate (35.4%)</a:t>
            </a:r>
            <a:endParaRPr lang="en-US" sz="1000" dirty="0"/>
          </a:p>
        </p:txBody>
      </p:sp>
      <p:sp>
        <p:nvSpPr>
          <p:cNvPr id="9" name="Shape 5"/>
          <p:cNvSpPr/>
          <p:nvPr/>
        </p:nvSpPr>
        <p:spPr>
          <a:xfrm>
            <a:off x="3246120" y="4160520"/>
            <a:ext cx="2834640" cy="777240"/>
          </a:xfrm>
          <a:prstGeom prst="roundRect">
            <a:avLst>
              <a:gd name="adj" fmla="val 9412"/>
            </a:avLst>
          </a:prstGeom>
          <a:solidFill>
            <a:srgbClr val="F0F4F8"/>
          </a:solidFill>
          <a:ln w="12700">
            <a:solidFill>
              <a:srgbClr val="E8A838"/>
            </a:solidFill>
            <a:prstDash val="solid"/>
          </a:ln>
        </p:spPr>
      </p:sp>
      <p:sp>
        <p:nvSpPr>
          <p:cNvPr id="10" name="Text 6"/>
          <p:cNvSpPr/>
          <p:nvPr/>
        </p:nvSpPr>
        <p:spPr>
          <a:xfrm>
            <a:off x="3383280" y="4206240"/>
            <a:ext cx="2578608" cy="685800"/>
          </a:xfrm>
          <a:prstGeom prst="rect">
            <a:avLst/>
          </a:prstGeom>
          <a:noFill/>
          <a:ln/>
        </p:spPr>
        <p:txBody>
          <a:bodyPr wrap="square" rtlCol="0" anchor="ctr"/>
          <a:lstStyle/>
          <a:p>
            <a:pPr indent="0" marL="0">
              <a:buNone/>
            </a:pPr>
            <a:r>
              <a:rPr lang="en-US" sz="1000" dirty="0">
                <a:solidFill>
                  <a:srgbClr val="1B3A5C"/>
                </a:solidFill>
                <a:latin typeface="Calibri" pitchFamily="34" charset="0"/>
                <a:ea typeface="Calibri" pitchFamily="34" charset="-122"/>
                <a:cs typeface="Calibri" pitchFamily="34" charset="-120"/>
              </a:rPr>
              <a:t>Portugal alone drives 31.9% of demand — domestic market dependency</a:t>
            </a:r>
            <a:endParaRPr lang="en-US" sz="1000" dirty="0"/>
          </a:p>
        </p:txBody>
      </p:sp>
      <p:sp>
        <p:nvSpPr>
          <p:cNvPr id="11" name="Shape 7"/>
          <p:cNvSpPr/>
          <p:nvPr/>
        </p:nvSpPr>
        <p:spPr>
          <a:xfrm>
            <a:off x="6217920" y="4160520"/>
            <a:ext cx="2834640" cy="777240"/>
          </a:xfrm>
          <a:prstGeom prst="roundRect">
            <a:avLst>
              <a:gd name="adj" fmla="val 9412"/>
            </a:avLst>
          </a:prstGeom>
          <a:solidFill>
            <a:srgbClr val="F0F4F8"/>
          </a:solidFill>
          <a:ln w="12700">
            <a:solidFill>
              <a:srgbClr val="2E86AB"/>
            </a:solidFill>
            <a:prstDash val="solid"/>
          </a:ln>
        </p:spPr>
      </p:sp>
      <p:sp>
        <p:nvSpPr>
          <p:cNvPr id="12" name="Text 8"/>
          <p:cNvSpPr/>
          <p:nvPr/>
        </p:nvSpPr>
        <p:spPr>
          <a:xfrm>
            <a:off x="6355080" y="4206240"/>
            <a:ext cx="2578608" cy="685800"/>
          </a:xfrm>
          <a:prstGeom prst="rect">
            <a:avLst/>
          </a:prstGeom>
          <a:noFill/>
          <a:ln/>
        </p:spPr>
        <p:txBody>
          <a:bodyPr wrap="square" rtlCol="0" anchor="ctr"/>
          <a:lstStyle/>
          <a:p>
            <a:pPr indent="0" marL="0">
              <a:buNone/>
            </a:pPr>
            <a:r>
              <a:rPr lang="en-US" sz="1000" dirty="0">
                <a:solidFill>
                  <a:srgbClr val="1B3A5C"/>
                </a:solidFill>
                <a:latin typeface="Calibri" pitchFamily="34" charset="0"/>
                <a:ea typeface="Calibri" pitchFamily="34" charset="-122"/>
                <a:cs typeface="Calibri" pitchFamily="34" charset="-120"/>
              </a:rPr>
              <a:t>Bed &amp; Breakfast chosen by 79.8% of guests — a clear preference signal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B3A5C"/>
                </a:solidFill>
                <a:latin typeface="Cambria" pitchFamily="34" charset="0"/>
                <a:ea typeface="Cambria" pitchFamily="34" charset="-122"/>
                <a:cs typeface="Cambria" pitchFamily="34" charset="-120"/>
              </a:rPr>
              <a:t>Strategic Recommendations</a:t>
            </a:r>
            <a:endParaRPr lang="en-US" sz="3000" dirty="0"/>
          </a:p>
        </p:txBody>
      </p:sp>
      <p:sp>
        <p:nvSpPr>
          <p:cNvPr id="3" name="Text 1"/>
          <p:cNvSpPr/>
          <p:nvPr/>
        </p:nvSpPr>
        <p:spPr>
          <a:xfrm>
            <a:off x="457200" y="804672"/>
            <a:ext cx="8229600" cy="320040"/>
          </a:xfrm>
          <a:prstGeom prst="rect">
            <a:avLst/>
          </a:prstGeom>
          <a:noFill/>
          <a:ln/>
        </p:spPr>
        <p:txBody>
          <a:bodyPr wrap="square" rtlCol="0" anchor="ctr"/>
          <a:lstStyle/>
          <a:p>
            <a:pPr indent="0" marL="0">
              <a:buNone/>
            </a:pPr>
            <a:r>
              <a:rPr lang="en-US" sz="1300" dirty="0">
                <a:solidFill>
                  <a:srgbClr val="6B7A8D"/>
                </a:solidFill>
                <a:latin typeface="Calibri" pitchFamily="34" charset="0"/>
                <a:ea typeface="Calibri" pitchFamily="34" charset="-122"/>
                <a:cs typeface="Calibri" pitchFamily="34" charset="-120"/>
              </a:rPr>
              <a:t>Actionable levers to grow revenue and reduce cancellation risk</a:t>
            </a:r>
            <a:endParaRPr lang="en-US" sz="1300" dirty="0"/>
          </a:p>
        </p:txBody>
      </p:sp>
      <p:sp>
        <p:nvSpPr>
          <p:cNvPr id="4" name="Shape 2"/>
          <p:cNvSpPr/>
          <p:nvPr/>
        </p:nvSpPr>
        <p:spPr>
          <a:xfrm>
            <a:off x="365760" y="1298448"/>
            <a:ext cx="4023360" cy="1572768"/>
          </a:xfrm>
          <a:prstGeom prst="roundRect">
            <a:avLst>
              <a:gd name="adj" fmla="val 6977"/>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5" name="Shape 3"/>
          <p:cNvSpPr/>
          <p:nvPr/>
        </p:nvSpPr>
        <p:spPr>
          <a:xfrm>
            <a:off x="502920" y="1463040"/>
            <a:ext cx="475488" cy="475488"/>
          </a:xfrm>
          <a:prstGeom prst="ellipse">
            <a:avLst/>
          </a:prstGeom>
          <a:solidFill>
            <a:srgbClr val="2E86AB"/>
          </a:solidFill>
          <a:ln w="12700">
            <a:solidFill>
              <a:srgbClr val="2E86AB"/>
            </a:solidFill>
            <a:prstDash val="solid"/>
          </a:ln>
        </p:spPr>
      </p:sp>
      <p:sp>
        <p:nvSpPr>
          <p:cNvPr id="6" name="Text 4"/>
          <p:cNvSpPr/>
          <p:nvPr/>
        </p:nvSpPr>
        <p:spPr>
          <a:xfrm>
            <a:off x="502920" y="1463040"/>
            <a:ext cx="475488"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115568" y="1463040"/>
            <a:ext cx="3108960" cy="329184"/>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Dynamic Summer Pricing</a:t>
            </a:r>
            <a:endParaRPr lang="en-US" sz="1300" dirty="0"/>
          </a:p>
        </p:txBody>
      </p:sp>
      <p:sp>
        <p:nvSpPr>
          <p:cNvPr id="8" name="Text 6"/>
          <p:cNvSpPr/>
          <p:nvPr/>
        </p:nvSpPr>
        <p:spPr>
          <a:xfrm>
            <a:off x="502920" y="1874520"/>
            <a:ext cx="3749040" cy="685800"/>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Jul–Aug ADR potential is €135–€151. Deploy tiered pricing to maximize yield during peak demand — extend the 'high season' window into late June and early September.</a:t>
            </a:r>
            <a:endParaRPr lang="en-US" sz="1000" dirty="0"/>
          </a:p>
        </p:txBody>
      </p:sp>
      <p:sp>
        <p:nvSpPr>
          <p:cNvPr id="9" name="Text 7"/>
          <p:cNvSpPr/>
          <p:nvPr/>
        </p:nvSpPr>
        <p:spPr>
          <a:xfrm>
            <a:off x="502920" y="2560320"/>
            <a:ext cx="3749040" cy="256032"/>
          </a:xfrm>
          <a:prstGeom prst="rect">
            <a:avLst/>
          </a:prstGeom>
          <a:noFill/>
          <a:ln/>
        </p:spPr>
        <p:txBody>
          <a:bodyPr wrap="square" rtlCol="0" anchor="ctr"/>
          <a:lstStyle/>
          <a:p>
            <a:pPr indent="0" marL="0">
              <a:buNone/>
            </a:pPr>
            <a:r>
              <a:rPr lang="en-US" sz="950" b="1" dirty="0">
                <a:solidFill>
                  <a:srgbClr val="2E86AB"/>
                </a:solidFill>
                <a:latin typeface="Calibri" pitchFamily="34" charset="0"/>
                <a:ea typeface="Calibri" pitchFamily="34" charset="-122"/>
                <a:cs typeface="Calibri" pitchFamily="34" charset="-120"/>
              </a:rPr>
              <a:t>Revenue Impact: HIGH</a:t>
            </a:r>
            <a:endParaRPr lang="en-US" sz="950" dirty="0"/>
          </a:p>
        </p:txBody>
      </p:sp>
      <p:sp>
        <p:nvSpPr>
          <p:cNvPr id="10" name="Shape 8"/>
          <p:cNvSpPr/>
          <p:nvPr/>
        </p:nvSpPr>
        <p:spPr>
          <a:xfrm>
            <a:off x="4754880" y="1298448"/>
            <a:ext cx="4023360" cy="1572768"/>
          </a:xfrm>
          <a:prstGeom prst="roundRect">
            <a:avLst>
              <a:gd name="adj" fmla="val 6977"/>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1" name="Shape 9"/>
          <p:cNvSpPr/>
          <p:nvPr/>
        </p:nvSpPr>
        <p:spPr>
          <a:xfrm>
            <a:off x="4892040" y="1463040"/>
            <a:ext cx="475488" cy="475488"/>
          </a:xfrm>
          <a:prstGeom prst="ellipse">
            <a:avLst/>
          </a:prstGeom>
          <a:solidFill>
            <a:srgbClr val="E05C5C"/>
          </a:solidFill>
          <a:ln w="12700">
            <a:solidFill>
              <a:srgbClr val="E05C5C"/>
            </a:solidFill>
            <a:prstDash val="solid"/>
          </a:ln>
        </p:spPr>
      </p:sp>
      <p:sp>
        <p:nvSpPr>
          <p:cNvPr id="12" name="Text 10"/>
          <p:cNvSpPr/>
          <p:nvPr/>
        </p:nvSpPr>
        <p:spPr>
          <a:xfrm>
            <a:off x="4892040" y="1463040"/>
            <a:ext cx="475488"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p:nvPr/>
        </p:nvSpPr>
        <p:spPr>
          <a:xfrm>
            <a:off x="5504688" y="1463040"/>
            <a:ext cx="3108960" cy="329184"/>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OTA Cancellation Policy Overhaul</a:t>
            </a:r>
            <a:endParaRPr lang="en-US" sz="1300" dirty="0"/>
          </a:p>
        </p:txBody>
      </p:sp>
      <p:sp>
        <p:nvSpPr>
          <p:cNvPr id="14" name="Text 12"/>
          <p:cNvSpPr/>
          <p:nvPr/>
        </p:nvSpPr>
        <p:spPr>
          <a:xfrm>
            <a:off x="4892040" y="1874520"/>
            <a:ext cx="3749040" cy="685800"/>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Introduce non-refundable or partial-deposit options for Online TA bookings. A 50% reduction in OTA cancellations would recover ~2,700 net bookings annually.</a:t>
            </a:r>
            <a:endParaRPr lang="en-US" sz="1000" dirty="0"/>
          </a:p>
        </p:txBody>
      </p:sp>
      <p:sp>
        <p:nvSpPr>
          <p:cNvPr id="15" name="Text 13"/>
          <p:cNvSpPr/>
          <p:nvPr/>
        </p:nvSpPr>
        <p:spPr>
          <a:xfrm>
            <a:off x="4892040" y="2560320"/>
            <a:ext cx="3749040" cy="256032"/>
          </a:xfrm>
          <a:prstGeom prst="rect">
            <a:avLst/>
          </a:prstGeom>
          <a:noFill/>
          <a:ln/>
        </p:spPr>
        <p:txBody>
          <a:bodyPr wrap="square" rtlCol="0" anchor="ctr"/>
          <a:lstStyle/>
          <a:p>
            <a:pPr indent="0" marL="0">
              <a:buNone/>
            </a:pPr>
            <a:r>
              <a:rPr lang="en-US" sz="950" b="1" dirty="0">
                <a:solidFill>
                  <a:srgbClr val="E05C5C"/>
                </a:solidFill>
                <a:latin typeface="Calibri" pitchFamily="34" charset="0"/>
                <a:ea typeface="Calibri" pitchFamily="34" charset="-122"/>
                <a:cs typeface="Calibri" pitchFamily="34" charset="-120"/>
              </a:rPr>
              <a:t>Cancellation Impact: HIGH</a:t>
            </a:r>
            <a:endParaRPr lang="en-US" sz="950" dirty="0"/>
          </a:p>
        </p:txBody>
      </p:sp>
      <p:sp>
        <p:nvSpPr>
          <p:cNvPr id="16" name="Shape 14"/>
          <p:cNvSpPr/>
          <p:nvPr/>
        </p:nvSpPr>
        <p:spPr>
          <a:xfrm>
            <a:off x="365760" y="3017520"/>
            <a:ext cx="4023360" cy="1572768"/>
          </a:xfrm>
          <a:prstGeom prst="roundRect">
            <a:avLst>
              <a:gd name="adj" fmla="val 6977"/>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17" name="Shape 15"/>
          <p:cNvSpPr/>
          <p:nvPr/>
        </p:nvSpPr>
        <p:spPr>
          <a:xfrm>
            <a:off x="502920" y="3182112"/>
            <a:ext cx="475488" cy="475488"/>
          </a:xfrm>
          <a:prstGeom prst="ellipse">
            <a:avLst/>
          </a:prstGeom>
          <a:solidFill>
            <a:srgbClr val="E8A838"/>
          </a:solidFill>
          <a:ln w="12700">
            <a:solidFill>
              <a:srgbClr val="E8A838"/>
            </a:solidFill>
            <a:prstDash val="solid"/>
          </a:ln>
        </p:spPr>
      </p:sp>
      <p:sp>
        <p:nvSpPr>
          <p:cNvPr id="18" name="Text 16"/>
          <p:cNvSpPr/>
          <p:nvPr/>
        </p:nvSpPr>
        <p:spPr>
          <a:xfrm>
            <a:off x="502920" y="3182112"/>
            <a:ext cx="475488"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115568" y="3182112"/>
            <a:ext cx="3108960" cy="329184"/>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Direct Channel Investment</a:t>
            </a:r>
            <a:endParaRPr lang="en-US" sz="1300" dirty="0"/>
          </a:p>
        </p:txBody>
      </p:sp>
      <p:sp>
        <p:nvSpPr>
          <p:cNvPr id="20" name="Text 18"/>
          <p:cNvSpPr/>
          <p:nvPr/>
        </p:nvSpPr>
        <p:spPr>
          <a:xfrm>
            <a:off x="502920" y="3593592"/>
            <a:ext cx="3749040" cy="685800"/>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Direct bookings cancel at only 14.7% vs 35.4% OTA. Invest in loyalty programs, direct booking incentives, and SEO to shift 10% of OTA traffic to direct.</a:t>
            </a:r>
            <a:endParaRPr lang="en-US" sz="1000" dirty="0"/>
          </a:p>
        </p:txBody>
      </p:sp>
      <p:sp>
        <p:nvSpPr>
          <p:cNvPr id="21" name="Text 19"/>
          <p:cNvSpPr/>
          <p:nvPr/>
        </p:nvSpPr>
        <p:spPr>
          <a:xfrm>
            <a:off x="502920" y="4279392"/>
            <a:ext cx="3749040" cy="256032"/>
          </a:xfrm>
          <a:prstGeom prst="rect">
            <a:avLst/>
          </a:prstGeom>
          <a:noFill/>
          <a:ln/>
        </p:spPr>
        <p:txBody>
          <a:bodyPr wrap="square" rtlCol="0" anchor="ctr"/>
          <a:lstStyle/>
          <a:p>
            <a:pPr indent="0" marL="0">
              <a:buNone/>
            </a:pPr>
            <a:r>
              <a:rPr lang="en-US" sz="950" b="1" dirty="0">
                <a:solidFill>
                  <a:srgbClr val="E8A838"/>
                </a:solidFill>
                <a:latin typeface="Calibri" pitchFamily="34" charset="0"/>
                <a:ea typeface="Calibri" pitchFamily="34" charset="-122"/>
                <a:cs typeface="Calibri" pitchFamily="34" charset="-120"/>
              </a:rPr>
              <a:t>Mix Shift Impact: MEDIUM</a:t>
            </a:r>
            <a:endParaRPr lang="en-US" sz="950" dirty="0"/>
          </a:p>
        </p:txBody>
      </p:sp>
      <p:sp>
        <p:nvSpPr>
          <p:cNvPr id="22" name="Shape 20"/>
          <p:cNvSpPr/>
          <p:nvPr/>
        </p:nvSpPr>
        <p:spPr>
          <a:xfrm>
            <a:off x="4754880" y="3017520"/>
            <a:ext cx="4023360" cy="1572768"/>
          </a:xfrm>
          <a:prstGeom prst="roundRect">
            <a:avLst>
              <a:gd name="adj" fmla="val 6977"/>
            </a:avLst>
          </a:prstGeom>
          <a:solidFill>
            <a:srgbClr val="FFFFFF"/>
          </a:solidFill>
          <a:ln w="12700">
            <a:solidFill>
              <a:srgbClr val="DCE4EF"/>
            </a:solidFill>
            <a:prstDash val="solid"/>
          </a:ln>
          <a:effectLst>
            <a:outerShdw sx="100000" sy="100000" kx="0" ky="0" algn="bl" rotWithShape="0" blurRad="101600" dist="38100" dir="2700000">
              <a:srgbClr val="000000">
                <a:alpha val="10000"/>
              </a:srgbClr>
            </a:outerShdw>
          </a:effectLst>
        </p:spPr>
      </p:sp>
      <p:sp>
        <p:nvSpPr>
          <p:cNvPr id="23" name="Shape 21"/>
          <p:cNvSpPr/>
          <p:nvPr/>
        </p:nvSpPr>
        <p:spPr>
          <a:xfrm>
            <a:off x="4892040" y="3182112"/>
            <a:ext cx="475488" cy="475488"/>
          </a:xfrm>
          <a:prstGeom prst="ellipse">
            <a:avLst/>
          </a:prstGeom>
          <a:solidFill>
            <a:srgbClr val="3BAB7A"/>
          </a:solidFill>
          <a:ln w="12700">
            <a:solidFill>
              <a:srgbClr val="3BAB7A"/>
            </a:solidFill>
            <a:prstDash val="solid"/>
          </a:ln>
        </p:spPr>
      </p:sp>
      <p:sp>
        <p:nvSpPr>
          <p:cNvPr id="24" name="Text 22"/>
          <p:cNvSpPr/>
          <p:nvPr/>
        </p:nvSpPr>
        <p:spPr>
          <a:xfrm>
            <a:off x="4892040" y="3182112"/>
            <a:ext cx="475488" cy="475488"/>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5" name="Text 23"/>
          <p:cNvSpPr/>
          <p:nvPr/>
        </p:nvSpPr>
        <p:spPr>
          <a:xfrm>
            <a:off x="5504688" y="3182112"/>
            <a:ext cx="3108960" cy="329184"/>
          </a:xfrm>
          <a:prstGeom prst="rect">
            <a:avLst/>
          </a:prstGeom>
          <a:noFill/>
          <a:ln/>
        </p:spPr>
        <p:txBody>
          <a:bodyPr wrap="square" rtlCol="0" anchor="ctr"/>
          <a:lstStyle/>
          <a:p>
            <a:pPr indent="0" marL="0">
              <a:buNone/>
            </a:pPr>
            <a:r>
              <a:rPr lang="en-US" sz="1300" b="1" dirty="0">
                <a:solidFill>
                  <a:srgbClr val="1B3A5C"/>
                </a:solidFill>
                <a:latin typeface="Cambria" pitchFamily="34" charset="0"/>
                <a:ea typeface="Cambria" pitchFamily="34" charset="-122"/>
                <a:cs typeface="Cambria" pitchFamily="34" charset="-120"/>
              </a:rPr>
              <a:t>International Diversification</a:t>
            </a:r>
            <a:endParaRPr lang="en-US" sz="1300" dirty="0"/>
          </a:p>
        </p:txBody>
      </p:sp>
      <p:sp>
        <p:nvSpPr>
          <p:cNvPr id="26" name="Text 24"/>
          <p:cNvSpPr/>
          <p:nvPr/>
        </p:nvSpPr>
        <p:spPr>
          <a:xfrm>
            <a:off x="4892040" y="3593592"/>
            <a:ext cx="3749040" cy="685800"/>
          </a:xfrm>
          <a:prstGeom prst="rect">
            <a:avLst/>
          </a:prstGeom>
          <a:noFill/>
          <a:ln/>
        </p:spPr>
        <p:txBody>
          <a:bodyPr wrap="square" rtlCol="0" anchor="ctr"/>
          <a:lstStyle/>
          <a:p>
            <a:pPr indent="0" marL="0">
              <a:buNone/>
            </a:pPr>
            <a:r>
              <a:rPr lang="en-US" sz="1000" dirty="0">
                <a:solidFill>
                  <a:srgbClr val="6B7A8D"/>
                </a:solidFill>
                <a:latin typeface="Calibri" pitchFamily="34" charset="0"/>
                <a:ea typeface="Calibri" pitchFamily="34" charset="-122"/>
                <a:cs typeface="Calibri" pitchFamily="34" charset="-120"/>
              </a:rPr>
              <a:t>Portugal contributes 31.9% — a concentration risk. Target UK (12%) and German (6.2%) markets with tailored campaigns to reduce domestic dependency.</a:t>
            </a:r>
            <a:endParaRPr lang="en-US" sz="1000" dirty="0"/>
          </a:p>
        </p:txBody>
      </p:sp>
      <p:sp>
        <p:nvSpPr>
          <p:cNvPr id="27" name="Text 25"/>
          <p:cNvSpPr/>
          <p:nvPr/>
        </p:nvSpPr>
        <p:spPr>
          <a:xfrm>
            <a:off x="4892040" y="4279392"/>
            <a:ext cx="3749040" cy="256032"/>
          </a:xfrm>
          <a:prstGeom prst="rect">
            <a:avLst/>
          </a:prstGeom>
          <a:noFill/>
          <a:ln/>
        </p:spPr>
        <p:txBody>
          <a:bodyPr wrap="square" rtlCol="0" anchor="ctr"/>
          <a:lstStyle/>
          <a:p>
            <a:pPr indent="0" marL="0">
              <a:buNone/>
            </a:pPr>
            <a:r>
              <a:rPr lang="en-US" sz="950" b="1" dirty="0">
                <a:solidFill>
                  <a:srgbClr val="3BAB7A"/>
                </a:solidFill>
                <a:latin typeface="Calibri" pitchFamily="34" charset="0"/>
                <a:ea typeface="Calibri" pitchFamily="34" charset="-122"/>
                <a:cs typeface="Calibri" pitchFamily="34" charset="-120"/>
              </a:rPr>
              <a:t>Portfolio Impact: MEDIUM</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914400" y="3200400"/>
            <a:ext cx="3657600" cy="3657600"/>
          </a:xfrm>
          <a:prstGeom prst="ellipse">
            <a:avLst/>
          </a:prstGeom>
          <a:solidFill>
            <a:srgbClr val="2E86AB">
              <a:alpha val="18000"/>
            </a:srgbClr>
          </a:solidFill>
          <a:ln w="12700">
            <a:solidFill>
              <a:srgbClr val="2E86AB">
                <a:alpha val="18000"/>
              </a:srgbClr>
            </a:solidFill>
            <a:prstDash val="solid"/>
          </a:ln>
        </p:spPr>
      </p:sp>
      <p:sp>
        <p:nvSpPr>
          <p:cNvPr id="3" name="Shape 1"/>
          <p:cNvSpPr/>
          <p:nvPr/>
        </p:nvSpPr>
        <p:spPr>
          <a:xfrm>
            <a:off x="6858000" y="-914400"/>
            <a:ext cx="3200400" cy="3200400"/>
          </a:xfrm>
          <a:prstGeom prst="ellipse">
            <a:avLst/>
          </a:prstGeom>
          <a:solidFill>
            <a:srgbClr val="E8A838">
              <a:alpha val="15000"/>
            </a:srgbClr>
          </a:solidFill>
          <a:ln w="12700">
            <a:solidFill>
              <a:srgbClr val="E8A838">
                <a:alpha val="15000"/>
              </a:srgbClr>
            </a:solidFill>
            <a:prstDash val="solid"/>
          </a:ln>
        </p:spPr>
      </p:sp>
      <p:sp>
        <p:nvSpPr>
          <p:cNvPr id="4" name="Text 2"/>
          <p:cNvSpPr/>
          <p:nvPr/>
        </p:nvSpPr>
        <p:spPr>
          <a:xfrm>
            <a:off x="914400" y="548640"/>
            <a:ext cx="7315200" cy="411480"/>
          </a:xfrm>
          <a:prstGeom prst="rect">
            <a:avLst/>
          </a:prstGeom>
          <a:noFill/>
          <a:ln/>
        </p:spPr>
        <p:txBody>
          <a:bodyPr wrap="square" rtlCol="0" anchor="ctr"/>
          <a:lstStyle/>
          <a:p>
            <a:pPr algn="ctr" indent="0" marL="0">
              <a:buNone/>
            </a:pPr>
            <a:r>
              <a:rPr lang="en-US" sz="1200" b="1" spc="100" kern="0" dirty="0">
                <a:solidFill>
                  <a:srgbClr val="E8A838"/>
                </a:solidFill>
                <a:latin typeface="Calibri" pitchFamily="34" charset="0"/>
                <a:ea typeface="Calibri" pitchFamily="34" charset="-122"/>
                <a:cs typeface="Calibri" pitchFamily="34" charset="-120"/>
              </a:rPr>
              <a:t>The Data Story in One Line</a:t>
            </a:r>
            <a:endParaRPr lang="en-US" sz="1200" dirty="0"/>
          </a:p>
        </p:txBody>
      </p:sp>
      <p:sp>
        <p:nvSpPr>
          <p:cNvPr id="5" name="Text 3"/>
          <p:cNvSpPr/>
          <p:nvPr/>
        </p:nvSpPr>
        <p:spPr>
          <a:xfrm>
            <a:off x="731520" y="1005840"/>
            <a:ext cx="7680960" cy="2011680"/>
          </a:xfrm>
          <a:prstGeom prst="rect">
            <a:avLst/>
          </a:prstGeom>
          <a:noFill/>
          <a:ln/>
        </p:spPr>
        <p:txBody>
          <a:bodyPr wrap="square" rtlCol="0" anchor="ctr"/>
          <a:lstStyle/>
          <a:p>
            <a:pPr algn="ctr" indent="0" marL="0">
              <a:buNone/>
            </a:pPr>
            <a:r>
              <a:rPr lang="en-US" sz="3000" b="1" i="1" dirty="0">
                <a:solidFill>
                  <a:srgbClr val="FFFFFF"/>
                </a:solidFill>
                <a:latin typeface="Cambria" pitchFamily="34" charset="0"/>
                <a:ea typeface="Cambria" pitchFamily="34" charset="-122"/>
                <a:cs typeface="Cambria" pitchFamily="34" charset="-120"/>
              </a:rPr>
              <a:t>"Strong pricing power, a dangerous</a:t>
            </a:r>
            <a:endParaRPr lang="en-US" sz="3000" dirty="0"/>
          </a:p>
          <a:p>
            <a:pPr algn="ctr" indent="0" marL="0">
              <a:buNone/>
            </a:pPr>
            <a:r>
              <a:rPr lang="en-US" sz="3000" b="1" i="1" dirty="0">
                <a:solidFill>
                  <a:srgbClr val="FFFFFF"/>
                </a:solidFill>
                <a:latin typeface="Cambria" pitchFamily="34" charset="0"/>
                <a:ea typeface="Cambria" pitchFamily="34" charset="-122"/>
                <a:cs typeface="Cambria" pitchFamily="34" charset="-120"/>
              </a:rPr>
              <a:t>cancellation problem — and clear</a:t>
            </a:r>
            <a:endParaRPr lang="en-US" sz="3000" dirty="0"/>
          </a:p>
          <a:p>
            <a:pPr algn="ctr" indent="0" marL="0">
              <a:buNone/>
            </a:pPr>
            <a:r>
              <a:rPr lang="en-US" sz="3000" b="1" i="1" dirty="0">
                <a:solidFill>
                  <a:srgbClr val="FFFFFF"/>
                </a:solidFill>
                <a:latin typeface="Cambria" pitchFamily="34" charset="0"/>
                <a:ea typeface="Cambria" pitchFamily="34" charset="-122"/>
                <a:cs typeface="Cambria" pitchFamily="34" charset="-120"/>
              </a:rPr>
              <a:t>levers to fix both."</a:t>
            </a:r>
            <a:endParaRPr lang="en-US" sz="3000" dirty="0"/>
          </a:p>
        </p:txBody>
      </p:sp>
      <p:sp>
        <p:nvSpPr>
          <p:cNvPr id="6" name="Shape 4"/>
          <p:cNvSpPr/>
          <p:nvPr/>
        </p:nvSpPr>
        <p:spPr>
          <a:xfrm>
            <a:off x="548640" y="3291840"/>
            <a:ext cx="2606040" cy="1463040"/>
          </a:xfrm>
          <a:prstGeom prst="roundRect">
            <a:avLst>
              <a:gd name="adj" fmla="val 7500"/>
            </a:avLst>
          </a:prstGeom>
          <a:solidFill>
            <a:srgbClr val="FFFFFF">
              <a:alpha val="12000"/>
            </a:srgbClr>
          </a:solidFill>
          <a:ln w="12700">
            <a:solidFill>
              <a:srgbClr val="FFFFFF">
                <a:alpha val="30000"/>
              </a:srgbClr>
            </a:solidFill>
            <a:prstDash val="solid"/>
          </a:ln>
        </p:spPr>
      </p:sp>
      <p:sp>
        <p:nvSpPr>
          <p:cNvPr id="7" name="Text 5"/>
          <p:cNvSpPr/>
          <p:nvPr/>
        </p:nvSpPr>
        <p:spPr>
          <a:xfrm>
            <a:off x="548640" y="3364992"/>
            <a:ext cx="26060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640080" y="3822192"/>
            <a:ext cx="242316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Price Smarter</a:t>
            </a:r>
            <a:endParaRPr lang="en-US" sz="1200" dirty="0"/>
          </a:p>
        </p:txBody>
      </p:sp>
      <p:sp>
        <p:nvSpPr>
          <p:cNvPr id="9" name="Text 7"/>
          <p:cNvSpPr/>
          <p:nvPr/>
        </p:nvSpPr>
        <p:spPr>
          <a:xfrm>
            <a:off x="640080" y="4133088"/>
            <a:ext cx="2423160" cy="548640"/>
          </a:xfrm>
          <a:prstGeom prst="rect">
            <a:avLst/>
          </a:prstGeom>
          <a:noFill/>
          <a:ln/>
        </p:spPr>
        <p:txBody>
          <a:bodyPr wrap="square" rtlCol="0" anchor="ctr"/>
          <a:lstStyle/>
          <a:p>
            <a:pPr algn="ctr" indent="0" marL="0">
              <a:buNone/>
            </a:pPr>
            <a:r>
              <a:rPr lang="en-US" sz="900" dirty="0">
                <a:solidFill>
                  <a:srgbClr val="A8C4D8"/>
                </a:solidFill>
                <a:latin typeface="Calibri" pitchFamily="34" charset="0"/>
                <a:ea typeface="Calibri" pitchFamily="34" charset="-122"/>
                <a:cs typeface="Calibri" pitchFamily="34" charset="-120"/>
              </a:rPr>
              <a:t>Deploy dynamic summer pricing — target €160+ ADR in August peak weeks</a:t>
            </a:r>
            <a:endParaRPr lang="en-US" sz="900" dirty="0"/>
          </a:p>
        </p:txBody>
      </p:sp>
      <p:sp>
        <p:nvSpPr>
          <p:cNvPr id="10" name="Shape 8"/>
          <p:cNvSpPr/>
          <p:nvPr/>
        </p:nvSpPr>
        <p:spPr>
          <a:xfrm>
            <a:off x="3383280" y="3291840"/>
            <a:ext cx="2606040" cy="1463040"/>
          </a:xfrm>
          <a:prstGeom prst="roundRect">
            <a:avLst>
              <a:gd name="adj" fmla="val 7500"/>
            </a:avLst>
          </a:prstGeom>
          <a:solidFill>
            <a:srgbClr val="FFFFFF">
              <a:alpha val="12000"/>
            </a:srgbClr>
          </a:solidFill>
          <a:ln w="12700">
            <a:solidFill>
              <a:srgbClr val="FFFFFF">
                <a:alpha val="30000"/>
              </a:srgbClr>
            </a:solidFill>
            <a:prstDash val="solid"/>
          </a:ln>
        </p:spPr>
      </p:sp>
      <p:sp>
        <p:nvSpPr>
          <p:cNvPr id="11" name="Text 9"/>
          <p:cNvSpPr/>
          <p:nvPr/>
        </p:nvSpPr>
        <p:spPr>
          <a:xfrm>
            <a:off x="3383280" y="3364992"/>
            <a:ext cx="26060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474720" y="3822192"/>
            <a:ext cx="242316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Reduce Cancels</a:t>
            </a:r>
            <a:endParaRPr lang="en-US" sz="1200" dirty="0"/>
          </a:p>
        </p:txBody>
      </p:sp>
      <p:sp>
        <p:nvSpPr>
          <p:cNvPr id="13" name="Text 11"/>
          <p:cNvSpPr/>
          <p:nvPr/>
        </p:nvSpPr>
        <p:spPr>
          <a:xfrm>
            <a:off x="3474720" y="4133088"/>
            <a:ext cx="2423160" cy="548640"/>
          </a:xfrm>
          <a:prstGeom prst="rect">
            <a:avLst/>
          </a:prstGeom>
          <a:noFill/>
          <a:ln/>
        </p:spPr>
        <p:txBody>
          <a:bodyPr wrap="square" rtlCol="0" anchor="ctr"/>
          <a:lstStyle/>
          <a:p>
            <a:pPr algn="ctr" indent="0" marL="0">
              <a:buNone/>
            </a:pPr>
            <a:r>
              <a:rPr lang="en-US" sz="900" dirty="0">
                <a:solidFill>
                  <a:srgbClr val="A8C4D8"/>
                </a:solidFill>
                <a:latin typeface="Calibri" pitchFamily="34" charset="0"/>
                <a:ea typeface="Calibri" pitchFamily="34" charset="-122"/>
                <a:cs typeface="Calibri" pitchFamily="34" charset="-120"/>
              </a:rPr>
              <a:t>Mandate partial deposits on OTA bookings — start with City Hotel</a:t>
            </a:r>
            <a:endParaRPr lang="en-US" sz="900" dirty="0"/>
          </a:p>
        </p:txBody>
      </p:sp>
      <p:sp>
        <p:nvSpPr>
          <p:cNvPr id="14" name="Shape 12"/>
          <p:cNvSpPr/>
          <p:nvPr/>
        </p:nvSpPr>
        <p:spPr>
          <a:xfrm>
            <a:off x="6217920" y="3291840"/>
            <a:ext cx="2606040" cy="1463040"/>
          </a:xfrm>
          <a:prstGeom prst="roundRect">
            <a:avLst>
              <a:gd name="adj" fmla="val 7500"/>
            </a:avLst>
          </a:prstGeom>
          <a:solidFill>
            <a:srgbClr val="FFFFFF">
              <a:alpha val="12000"/>
            </a:srgbClr>
          </a:solidFill>
          <a:ln w="12700">
            <a:solidFill>
              <a:srgbClr val="FFFFFF">
                <a:alpha val="30000"/>
              </a:srgbClr>
            </a:solidFill>
            <a:prstDash val="solid"/>
          </a:ln>
        </p:spPr>
      </p:sp>
      <p:sp>
        <p:nvSpPr>
          <p:cNvPr id="15" name="Text 13"/>
          <p:cNvSpPr/>
          <p:nvPr/>
        </p:nvSpPr>
        <p:spPr>
          <a:xfrm>
            <a:off x="6217920" y="3364992"/>
            <a:ext cx="260604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6309360" y="3822192"/>
            <a:ext cx="2423160" cy="32004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Diversify Mix</a:t>
            </a:r>
            <a:endParaRPr lang="en-US" sz="1200" dirty="0"/>
          </a:p>
        </p:txBody>
      </p:sp>
      <p:sp>
        <p:nvSpPr>
          <p:cNvPr id="17" name="Text 15"/>
          <p:cNvSpPr/>
          <p:nvPr/>
        </p:nvSpPr>
        <p:spPr>
          <a:xfrm>
            <a:off x="6309360" y="4133088"/>
            <a:ext cx="2423160" cy="548640"/>
          </a:xfrm>
          <a:prstGeom prst="rect">
            <a:avLst/>
          </a:prstGeom>
          <a:noFill/>
          <a:ln/>
        </p:spPr>
        <p:txBody>
          <a:bodyPr wrap="square" rtlCol="0" anchor="ctr"/>
          <a:lstStyle/>
          <a:p>
            <a:pPr algn="ctr" indent="0" marL="0">
              <a:buNone/>
            </a:pPr>
            <a:r>
              <a:rPr lang="en-US" sz="900" dirty="0">
                <a:solidFill>
                  <a:srgbClr val="A8C4D8"/>
                </a:solidFill>
                <a:latin typeface="Calibri" pitchFamily="34" charset="0"/>
                <a:ea typeface="Calibri" pitchFamily="34" charset="-122"/>
                <a:cs typeface="Calibri" pitchFamily="34" charset="-120"/>
              </a:rPr>
              <a:t>Run UK + DE targeted campaigns to reduce Portuguese market dependency</a:t>
            </a:r>
            <a:endParaRPr lang="en-US" sz="900" dirty="0"/>
          </a:p>
        </p:txBody>
      </p:sp>
      <p:sp>
        <p:nvSpPr>
          <p:cNvPr id="18" name="Text 16"/>
          <p:cNvSpPr/>
          <p:nvPr/>
        </p:nvSpPr>
        <p:spPr>
          <a:xfrm>
            <a:off x="457200" y="4892040"/>
            <a:ext cx="8229600" cy="228600"/>
          </a:xfrm>
          <a:prstGeom prst="rect">
            <a:avLst/>
          </a:prstGeom>
          <a:noFill/>
          <a:ln/>
        </p:spPr>
        <p:txBody>
          <a:bodyPr wrap="square" rtlCol="0" anchor="ctr"/>
          <a:lstStyle/>
          <a:p>
            <a:pPr algn="ctr" indent="0" marL="0">
              <a:buNone/>
            </a:pPr>
            <a:r>
              <a:rPr lang="en-US" sz="900" dirty="0">
                <a:solidFill>
                  <a:srgbClr val="3A6080"/>
                </a:solidFill>
                <a:latin typeface="Calibri" pitchFamily="34" charset="0"/>
                <a:ea typeface="Calibri" pitchFamily="34" charset="-122"/>
                <a:cs typeface="Calibri" pitchFamily="34" charset="-120"/>
              </a:rPr>
              <a:t>ApexPlanet Software Pvt. Ltd. · 60-Day Data Analytics Program · Task 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Bookings — Data Storytelling &amp; Statistical Validation</dc:title>
  <dc:subject>PptxGenJS Presentation</dc:subject>
  <dc:creator>ApexPlanet Analytics</dc:creator>
  <cp:lastModifiedBy>ApexPlanet Analytics</cp:lastModifiedBy>
  <cp:revision>1</cp:revision>
  <dcterms:created xsi:type="dcterms:W3CDTF">2026-06-19T02:33:18Z</dcterms:created>
  <dcterms:modified xsi:type="dcterms:W3CDTF">2026-06-19T02:33:18Z</dcterms:modified>
</cp:coreProperties>
</file>